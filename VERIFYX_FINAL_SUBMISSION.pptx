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0B0F0E"/>
          </a:solidFill>
          <a:ln w="19050"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00FF9D"/>
                </a:solidFill>
                <a:latin typeface="Segoe UI"/>
              </a:defRPr>
            </a:pPr>
            <a:r>
              <a:t>VERIFYX</a:t>
            </a:r>
          </a:p>
          <a:p>
            <a:pPr>
              <a:spcBef>
                <a:spcPts val="1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POINT. VERIFY. FIX. VERIFY AGAIN.</a:t>
            </a:r>
          </a:p>
          <a:p>
            <a:pPr>
              <a:spcBef>
                <a:spcPts val="1000"/>
              </a:spcBef>
              <a:defRPr sz="1800">
                <a:solidFill>
                  <a:srgbClr val="89918E"/>
                </a:solidFill>
                <a:latin typeface="Segoe UI"/>
              </a:defRPr>
            </a:pPr>
            <a:r>
              <a:t>AI-Powered Physical-World Verification Engine</a:t>
            </a:r>
          </a:p>
          <a:p>
            <a:pPr>
              <a:spcBef>
                <a:spcPts val="3600"/>
              </a:spcBef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PHONE-FIRST   •   OFFLINE-FIRST   •   LOCAL AI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9D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STANDARD IS DIGITAL. THE WORKPLACE IS PHYSICAL.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554480" cy="731520"/>
          </a:xfrm>
          <a:prstGeom prst="roundRect">
            <a:avLst/>
          </a:prstGeom>
          <a:solidFill>
            <a:srgbClr val="0B0F0E"/>
          </a:solidFill>
          <a:ln w="12700"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01.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828800"/>
            <a:ext cx="1554480" cy="731520"/>
          </a:xfrm>
          <a:prstGeom prst="roundRect">
            <a:avLst/>
          </a:prstGeom>
          <a:solidFill>
            <a:srgbClr val="0B0F0E"/>
          </a:solidFill>
          <a:ln w="12700"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02. WALK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1554480" cy="731520"/>
          </a:xfrm>
          <a:prstGeom prst="roundRect">
            <a:avLst/>
          </a:prstGeom>
          <a:solidFill>
            <a:srgbClr val="0B0F0E"/>
          </a:solidFill>
          <a:ln w="12700"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03. OBSERVE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828800"/>
            <a:ext cx="1554480" cy="731520"/>
          </a:xfrm>
          <a:prstGeom prst="roundRect">
            <a:avLst/>
          </a:prstGeom>
          <a:solidFill>
            <a:srgbClr val="0B0F0E"/>
          </a:solidFill>
          <a:ln w="12700"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04. PHOTOGRAPH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1554480" cy="731520"/>
          </a:xfrm>
          <a:prstGeom prst="roundRect">
            <a:avLst/>
          </a:prstGeom>
          <a:solidFill>
            <a:srgbClr val="0B0F0E"/>
          </a:solidFill>
          <a:ln w="12700"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05. COMPARE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828800"/>
            <a:ext cx="1554480" cy="731520"/>
          </a:xfrm>
          <a:prstGeom prst="roundRect">
            <a:avLst/>
          </a:prstGeom>
          <a:solidFill>
            <a:srgbClr val="0B0F0E"/>
          </a:solidFill>
          <a:ln w="12700"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06.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5120640" cy="118872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4F5E"/>
                </a:solidFill>
              </a:defRPr>
            </a:pPr>
            <a:r>
              <a:t>MANUAL</a:t>
            </a:r>
          </a:p>
          <a:p>
            <a:pPr>
              <a:spcBef>
                <a:spcPts val="400"/>
              </a:spcBef>
              <a:defRPr sz="1100">
                <a:solidFill>
                  <a:srgbClr val="89918E"/>
                </a:solidFill>
              </a:defRPr>
            </a:pPr>
            <a:r>
              <a:t>Requires human inspectors to physically check every location manually.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535" y="2926080"/>
            <a:ext cx="5120640" cy="118872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4F5E"/>
                </a:solidFill>
              </a:defRPr>
            </a:pPr>
            <a:r>
              <a:t>SLOW</a:t>
            </a:r>
          </a:p>
          <a:p>
            <a:pPr>
              <a:spcBef>
                <a:spcPts val="400"/>
              </a:spcBef>
              <a:defRPr sz="1100">
                <a:solidFill>
                  <a:srgbClr val="89918E"/>
                </a:solidFill>
              </a:defRPr>
            </a:pPr>
            <a:r>
              <a:t>Compliance reports take hours or days to compile and submit.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120640" cy="118872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4F5E"/>
                </a:solidFill>
              </a:defRPr>
            </a:pPr>
            <a:r>
              <a:t>INCONSISTENT</a:t>
            </a:r>
          </a:p>
          <a:p>
            <a:pPr>
              <a:spcBef>
                <a:spcPts val="400"/>
              </a:spcBef>
              <a:defRPr sz="1100">
                <a:solidFill>
                  <a:srgbClr val="89918E"/>
                </a:solidFill>
              </a:defRPr>
            </a:pPr>
            <a:r>
              <a:t>Subjective human checks lead to missed hazards and variance.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535" y="4389120"/>
            <a:ext cx="5120640" cy="118872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4F5E"/>
                </a:solidFill>
              </a:defRPr>
            </a:pPr>
            <a:r>
              <a:t>SCATTERED EVIDENCE</a:t>
            </a:r>
          </a:p>
          <a:p>
            <a:pPr>
              <a:spcBef>
                <a:spcPts val="400"/>
              </a:spcBef>
              <a:defRPr sz="1100">
                <a:solidFill>
                  <a:srgbClr val="89918E"/>
                </a:solidFill>
              </a:defRPr>
            </a:pPr>
            <a:r>
              <a:t>Inspection photos are isolated without structured audit context.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669280"/>
            <a:ext cx="10728655" cy="640080"/>
          </a:xfrm>
          <a:prstGeom prst="rect">
            <a:avLst/>
          </a:prstGeom>
          <a:solidFill>
            <a:srgbClr val="0B0F0E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F9D"/>
                </a:solidFill>
              </a:defRPr>
            </a:pPr>
            <a:r>
              <a:t>"Businesses have standards. People still have to manually verify reality."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9D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TURN THE PHONE INTO A VERIFICATION TOOL.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3291840"/>
          </a:xfrm>
          <a:prstGeom prst="rect">
            <a:avLst/>
          </a:prstGeom>
          <a:solidFill>
            <a:srgbClr val="0B0F0E"/>
          </a:solidFill>
          <a:ln w="12700"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FF9D"/>
                </a:solidFill>
              </a:defRPr>
            </a:pPr>
            <a:r>
              <a:t>STEP 01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POINT</a:t>
            </a:r>
          </a:p>
          <a:p>
            <a:pPr>
              <a:spcBef>
                <a:spcPts val="1200"/>
              </a:spcBef>
              <a:defRPr sz="1200">
                <a:solidFill>
                  <a:srgbClr val="89918E"/>
                </a:solidFill>
              </a:defRPr>
            </a:pPr>
            <a:r>
              <a:t>Aim camera or select evaluation scenario in workplace zone.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828800"/>
            <a:ext cx="2468880" cy="3291840"/>
          </a:xfrm>
          <a:prstGeom prst="rect">
            <a:avLst/>
          </a:prstGeom>
          <a:solidFill>
            <a:srgbClr val="0B0F0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FF9D"/>
                </a:solidFill>
              </a:defRPr>
            </a:pPr>
            <a:r>
              <a:t>STEP 02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VERIFY</a:t>
            </a:r>
          </a:p>
          <a:p>
            <a:pPr>
              <a:spcBef>
                <a:spcPts val="1200"/>
              </a:spcBef>
              <a:defRPr sz="1200">
                <a:solidFill>
                  <a:srgbClr val="89918E"/>
                </a:solidFill>
              </a:defRPr>
            </a:pPr>
            <a:r>
              <a:t>Local AI evaluates physical evidence against inspection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2468880" cy="3291840"/>
          </a:xfrm>
          <a:prstGeom prst="rect">
            <a:avLst/>
          </a:prstGeom>
          <a:solidFill>
            <a:srgbClr val="0B0F0E"/>
          </a:solidFill>
          <a:ln w="12700"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FF9D"/>
                </a:solidFill>
              </a:defRPr>
            </a:pPr>
            <a:r>
              <a:t>STEP 03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FIX</a:t>
            </a:r>
          </a:p>
          <a:p>
            <a:pPr>
              <a:spcBef>
                <a:spcPts val="1200"/>
              </a:spcBef>
              <a:defRPr sz="1200">
                <a:solidFill>
                  <a:srgbClr val="89918E"/>
                </a:solidFill>
              </a:defRPr>
            </a:pPr>
            <a:r>
              <a:t>Interactive visual feedback guides user to clear hazards.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828800"/>
            <a:ext cx="2468880" cy="3291840"/>
          </a:xfrm>
          <a:prstGeom prst="rect">
            <a:avLst/>
          </a:prstGeom>
          <a:solidFill>
            <a:srgbClr val="0B0F0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FF9D"/>
                </a:solidFill>
              </a:defRPr>
            </a:pPr>
            <a:r>
              <a:t>STEP 04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VERIFY AGAIN</a:t>
            </a:r>
          </a:p>
          <a:p>
            <a:pPr>
              <a:spcBef>
                <a:spcPts val="1200"/>
              </a:spcBef>
              <a:defRPr sz="1200">
                <a:solidFill>
                  <a:srgbClr val="89918E"/>
                </a:solidFill>
              </a:defRPr>
            </a:pPr>
            <a:r>
              <a:t>Re-scan confirms clearance &amp; locks immutable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91440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VERIFYX observes the physical environment, evaluates evidence against inspection rules, and guides the user toward a verifiable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9D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PERCEPTION  ➔  REASONING  ➔ 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1463040"/>
          </a:xfrm>
          <a:prstGeom prst="rect">
            <a:avLst/>
          </a:prstGeom>
          <a:solidFill>
            <a:srgbClr val="0B0F0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01. CAMERA / INPUT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Live feed or approved test 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828800"/>
            <a:ext cx="2468880" cy="1463040"/>
          </a:xfrm>
          <a:prstGeom prst="rect">
            <a:avLst/>
          </a:prstGeom>
          <a:solidFill>
            <a:srgbClr val="0B0F0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02. YOLO11n (ONNX)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10.15 MB WASM local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2468880" cy="146304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03. OBJECT DETECTION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Raw bounding box &amp; class 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828800"/>
            <a:ext cx="2468880" cy="146304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04. CONFIDENCE POLICY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Confidence tiers (HIGH/MED/LOW)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2468880" cy="1463040"/>
          </a:xfrm>
          <a:prstGeom prst="rect">
            <a:avLst/>
          </a:prstGeom>
          <a:solidFill>
            <a:srgbClr val="0B0F0E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05. SPATIAL RULE ENGINE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Corridor overlap &amp; geometry reasoning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657600"/>
            <a:ext cx="2468880" cy="1463040"/>
          </a:xfrm>
          <a:prstGeom prst="rect">
            <a:avLst/>
          </a:prstGeom>
          <a:solidFill>
            <a:srgbClr val="0B0F0E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06. VERIFICATION DECISION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PASS / REVIEW / RESCAN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657600"/>
            <a:ext cx="2468880" cy="146304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07. EVIDENCE HISTORY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Initial violation &amp; re-scan frames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3657600"/>
            <a:ext cx="2468880" cy="146304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08. INSPECTION REPORT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Printable audit record &amp; JSON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FF9D"/>
                </a:solidFill>
              </a:defRPr>
            </a:pPr>
            <a:r>
              <a:t>LOCAL INFERENCE  •  ASYNC SINGLE-FLIGHT PROCESSING  •  NO MANDATORY CLOUD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9D"/>
                </a:solidFill>
                <a:latin typeface="Segoe UI"/>
              </a:defRPr>
            </a:pPr>
            <a:r>
              <a:t>TECHNICAL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DETECTION IS NOT VERIFICATION.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3749039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AI PERCEPTION (YOLO11n)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"What is visible?"</a:t>
            </a:r>
          </a:p>
          <a:p>
            <a:pPr>
              <a:spcBef>
                <a:spcPts val="600"/>
              </a:spcBef>
              <a:defRPr sz="1100">
                <a:solidFill>
                  <a:srgbClr val="89918E"/>
                </a:solidFill>
              </a:defRPr>
            </a:pPr>
            <a:r>
              <a:t>• Identifies presence of trained object classes</a:t>
            </a:r>
          </a:p>
          <a:p>
            <a:pPr>
              <a:spcBef>
                <a:spcPts val="600"/>
              </a:spcBef>
              <a:defRPr sz="1100">
                <a:solidFill>
                  <a:srgbClr val="89918E"/>
                </a:solidFill>
              </a:defRPr>
            </a:pPr>
            <a:r>
              <a:t>• Generates raw 2D bounding box coordinates</a:t>
            </a:r>
          </a:p>
          <a:p>
            <a:pPr>
              <a:spcBef>
                <a:spcPts val="600"/>
              </a:spcBef>
              <a:defRPr sz="1100">
                <a:solidFill>
                  <a:srgbClr val="89918E"/>
                </a:solidFill>
              </a:defRPr>
            </a:pPr>
            <a:r>
              <a:t>• Outputs raw model probability / confidence</a:t>
            </a:r>
          </a:p>
          <a:p>
            <a:pPr>
              <a:spcBef>
                <a:spcPts val="600"/>
              </a:spcBef>
              <a:defRPr sz="1100">
                <a:solidFill>
                  <a:srgbClr val="89918E"/>
                </a:solidFill>
              </a:defRPr>
            </a:pPr>
            <a:r>
              <a:t>• Single-frame static observation snapshot</a:t>
            </a:r>
          </a:p>
          <a:p>
            <a:pPr>
              <a:spcBef>
                <a:spcPts val="600"/>
              </a:spcBef>
              <a:defRPr sz="1100">
                <a:solidFill>
                  <a:srgbClr val="89918E"/>
                </a:solidFill>
              </a:defRPr>
            </a:pPr>
            <a:r>
              <a:t>• Lacks awareness of workplace compliance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535" y="1828800"/>
            <a:ext cx="5120640" cy="3749039"/>
          </a:xfrm>
          <a:prstGeom prst="rect">
            <a:avLst/>
          </a:prstGeom>
          <a:solidFill>
            <a:srgbClr val="0B0F0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9D"/>
                </a:solidFill>
              </a:defRPr>
            </a:pPr>
            <a:r>
              <a:t>VERIFYX SPATIAL RULE ENGINE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"Does the evidence satisfy the rule?"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✔ Enforces strict confidence tiers (HIGH/MED/LOW)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✔ Applies object-size guardrails (&lt; 32px rescan)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✔ Evaluates 2D spatial pathway corridor overlap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✔ Requires multi-observation temporal confirmation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✔ Preserves baseline &amp; re-scan history side-by-side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solidFill>
            <a:srgbClr val="0B0F0E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FF9D"/>
                </a:solidFill>
              </a:defRPr>
            </a:pPr>
            <a:r>
              <a:t>CORE GUARANTEE: INSUFFICIENT EVIDENCE NEVER BECOMES AN AUTOMATIC PASS.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9D"/>
                </a:solidFill>
                <a:latin typeface="Segoe UI"/>
              </a:defRPr>
            </a:pPr>
            <a:r>
              <a:t>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FROM SCAN TO VERIFIED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FF9D"/>
                </a:solidFill>
              </a:defRPr>
            </a:pPr>
            <a:r>
              <a:t>01 START</a:t>
            </a:r>
          </a:p>
        </p:txBody>
      </p:sp>
      <p:pic>
        <p:nvPicPr>
          <p:cNvPr id="5" name="Picture 4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196596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16936" y="164592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FF9D"/>
                </a:solidFill>
              </a:defRPr>
            </a:pPr>
            <a:r>
              <a:t>02 SCAN</a:t>
            </a:r>
          </a:p>
        </p:txBody>
      </p:sp>
      <p:pic>
        <p:nvPicPr>
          <p:cNvPr id="7" name="Picture 6" descr="03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1965960"/>
            <a:ext cx="196596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02352" y="164592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FF9D"/>
                </a:solidFill>
              </a:defRPr>
            </a:pPr>
            <a:r>
              <a:t>03 RESULTS</a:t>
            </a:r>
          </a:p>
        </p:txBody>
      </p:sp>
      <p:pic>
        <p:nvPicPr>
          <p:cNvPr id="9" name="Picture 8" descr="04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965960"/>
            <a:ext cx="196596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87768" y="164592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FF9D"/>
                </a:solidFill>
              </a:defRPr>
            </a:pPr>
            <a:r>
              <a:t>04 RE-SCAN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87768" y="1965960"/>
            <a:ext cx="1965960" cy="347472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9918E"/>
                </a:solidFill>
              </a:defRPr>
            </a:pPr>
            <a:r>
              <a:t>INSERT ACTUAL VERIFYX SCREENSHOT</a:t>
            </a:r>
            <a:br/>
            <a:r>
              <a:t>(04 RE-SCAN)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3184" y="164592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FF9D"/>
                </a:solidFill>
              </a:defRPr>
            </a:pPr>
            <a:r>
              <a:t>05 REPORT</a:t>
            </a:r>
          </a:p>
        </p:txBody>
      </p:sp>
      <p:pic>
        <p:nvPicPr>
          <p:cNvPr id="13" name="Picture 12" descr="03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4" y="1965960"/>
            <a:ext cx="1965960" cy="3474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89918E"/>
                </a:solidFill>
              </a:defRPr>
            </a:pPr>
            <a:r>
              <a:t>Dataset Demo / Evaluation Mode provides reproducible demonstration using approved held-out test imagery.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9D"/>
                </a:solidFill>
                <a:latin typeface="Segoe UI"/>
              </a:defRPr>
            </a:pPr>
            <a:r>
              <a:t>EXPERIMENTAL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MEASURED. TESTED. REPRODUCIBLE.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2011680"/>
          </a:xfrm>
          <a:prstGeom prst="rect">
            <a:avLst/>
          </a:prstGeom>
          <a:solidFill>
            <a:srgbClr val="0B0F0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FF9D"/>
                </a:solidFill>
              </a:defRPr>
            </a:pPr>
            <a:r>
              <a:t>93.2%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FIRE EXTINGUISHER RECALL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Primary inspection zone (1.0m – 4.5m)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828800"/>
            <a:ext cx="3383280" cy="2011680"/>
          </a:xfrm>
          <a:prstGeom prst="rect">
            <a:avLst/>
          </a:prstGeom>
          <a:solidFill>
            <a:srgbClr val="0B0F0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FF9D"/>
                </a:solidFill>
              </a:defRPr>
            </a:pPr>
            <a:r>
              <a:t>87.2%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EMERGENCY EXIT SIGN RECALL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Standard illuminated overhead signage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828800"/>
            <a:ext cx="3383280" cy="2011680"/>
          </a:xfrm>
          <a:prstGeom prst="rect">
            <a:avLst/>
          </a:prstGeom>
          <a:solidFill>
            <a:srgbClr val="0B0F0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FF9D"/>
                </a:solidFill>
              </a:defRPr>
            </a:pPr>
            <a:r>
              <a:t>98.0%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HAZARD SIGN RECALL</a:t>
            </a:r>
          </a:p>
          <a:p>
            <a:pPr>
              <a:spcBef>
                <a:spcPts val="400"/>
              </a:spcBef>
              <a:defRPr sz="1000">
                <a:solidFill>
                  <a:srgbClr val="89918E"/>
                </a:solidFill>
              </a:defRPr>
            </a:pPr>
            <a:r>
              <a:t>Floor warning cones &amp; safety placards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3383280" cy="164592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24 / 24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AUTOMATED TESTS PASSED</a:t>
            </a:r>
          </a:p>
          <a:p>
            <a:pPr>
              <a:spcBef>
                <a:spcPts val="200"/>
              </a:spcBef>
              <a:defRPr sz="900">
                <a:solidFill>
                  <a:srgbClr val="89918E"/>
                </a:solidFill>
              </a:defRPr>
            </a:pPr>
            <a:r>
              <a:t>13 Spatial + 11 Report tests (100% pass)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114800"/>
            <a:ext cx="3383280" cy="164592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10.15 MB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ONNX MODEL SIZE</a:t>
            </a:r>
          </a:p>
          <a:p>
            <a:pPr>
              <a:spcBef>
                <a:spcPts val="200"/>
              </a:spcBef>
              <a:defRPr sz="900">
                <a:solidFill>
                  <a:srgbClr val="89918E"/>
                </a:solidFill>
              </a:defRPr>
            </a:pPr>
            <a:r>
              <a:t>640x640 resolution local WASM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4114800"/>
            <a:ext cx="3383280" cy="1645920"/>
          </a:xfrm>
          <a:prstGeom prst="rect">
            <a:avLst/>
          </a:prstGeom>
          <a:solidFill>
            <a:srgbClr val="0B0F0E"/>
          </a:solidFill>
          <a:ln>
            <a:solidFill>
              <a:srgbClr val="1E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~2 FPS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BACKGROUND INFERENCE</a:t>
            </a:r>
          </a:p>
          <a:p>
            <a:pPr>
              <a:spcBef>
                <a:spcPts val="200"/>
              </a:spcBef>
              <a:defRPr sz="900">
                <a:solidFill>
                  <a:srgbClr val="89918E"/>
                </a:solidFill>
              </a:defRPr>
            </a:pPr>
            <a:r>
              <a:t>~504ms latency with smooth 60 FPS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9918E"/>
                </a:solidFill>
              </a:defRPr>
            </a:pPr>
            <a:r>
              <a:t>* Measured evaluation results on prototype evaluation pool. Not certified compliance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9D"/>
                </a:solidFill>
                <a:latin typeface="Segoe UI"/>
              </a:defRPr>
            </a:pPr>
            <a:r>
              <a:t>FUTURE HORIZONS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FROM PROTOTYPE TO PHYSICAL-WORLD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3291840"/>
          </a:xfrm>
          <a:prstGeom prst="rect">
            <a:avLst/>
          </a:prstGeom>
          <a:solidFill>
            <a:srgbClr val="0B0F0E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9D"/>
                </a:solidFill>
              </a:defRPr>
            </a:pPr>
            <a:r>
              <a:t>NOW (PROTOTYPE)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Local browser ONNX inference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Workplace safety verification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Spatial pathway corridor reasoning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Offline print &amp; JSON report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828800"/>
            <a:ext cx="3383280" cy="3291840"/>
          </a:xfrm>
          <a:prstGeom prst="rect">
            <a:avLst/>
          </a:prstGeom>
          <a:solidFill>
            <a:srgbClr val="0B0F0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NEXT HORIZONS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Native Android deployment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Snapdragon NPU acceleration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Expanded inspection rule profiles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iQOO Office Kit companion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828800"/>
            <a:ext cx="3383280" cy="3291840"/>
          </a:xfrm>
          <a:prstGeom prst="rect">
            <a:avLst/>
          </a:prstGeom>
          <a:solidFill>
            <a:srgbClr val="0B0F0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ENTERPRISE VISION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Custom inspection template builder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Multi-location audit compliance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Broader physical-world verification</a:t>
            </a:r>
          </a:p>
          <a:p>
            <a:pPr>
              <a:spcBef>
                <a:spcPts val="1000"/>
              </a:spcBef>
              <a:defRPr sz="1100">
                <a:solidFill>
                  <a:srgbClr val="89918E"/>
                </a:solidFill>
              </a:defRPr>
            </a:pPr>
            <a:r>
              <a:t>• Autonomous drone/robot vision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0728655" cy="1005840"/>
          </a:xfrm>
          <a:prstGeom prst="rect">
            <a:avLst/>
          </a:prstGeom>
          <a:solidFill>
            <a:srgbClr val="0B0F0E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9D"/>
                </a:solidFill>
              </a:defRPr>
            </a:pPr>
            <a:r>
              <a:t>"VERIFYX bridges the gap between digital standards and the physical world."</a:t>
            </a:r>
          </a:p>
          <a:p>
            <a:pPr algn="ctr">
              <a:spcBef>
                <a:spcPts val="400"/>
              </a:spcBef>
              <a:defRPr sz="900">
                <a:solidFill>
                  <a:srgbClr val="89918E"/>
                </a:solidFill>
              </a:defRPr>
            </a:pPr>
            <a:r>
              <a:t>VERIFYX   •   POINT. VERIFY. FIX. VERIFY AGAIN.   •   Prototype only — not a certified workplace safety compliance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