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VERIFYX. Traditional vision models identify objects, but cannot verify whether physical workplace conditions satisfy safety standards. VERIFYX runs on-device in the browser to deliver immediate, explainable verification verdicts without server round-trips.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visual inspection is inherently subjective. Spatial relationships like minimum clearance width cannot be judged reliably by eye, and when problems are flagged, there is no closed-loop mechanism to prove they were ever remediated.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alone is never verification. A bounding box doesn't tell an auditor if a safety rule passed. VERIFYX combines object detection with deterministic spatial rules and a closed-loop rescan to turn raw vision into verified compliance.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product interface. The operator aims the camera, VERIFYX scans the area, detects objects, checks spatial clearances against predefined safety standards, and prompts for a rescan if any remediation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consists of six sequential stages. Video frames are captured by the browser, fed to an on-device YOLO11n ONNX model via WebAssembly, evaluated against geometric rules, explained in human terms, re-verified upon fix, and stored as structured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proves the core workflow with real test evaluation data. On the left, an obstruction box is detected blocking the pathway. On the right, following physical relocation, the rescan confirms the zone is clear, creating verifiable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facility audits rely on human checklists, subjective opinions, and fragmented paper trails. VERIFYX replaces this with automated AI perception, geometric spatial rules, a mandatory Before/After rescan, and exportable digital proof.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VERIFYX is not a mock concept. All 24 automated unit tests pass, covering 13 spatial rule edge cases and 11 report lifecycle states. The web application is built, verified across mobile and desktop devices, and running live on Vercel at commit afb0952.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established clear architectural boundaries. Today we have a functional client-side engine with five rules. Next, we will introduce custom rule APIs and webhook notifications. In the future, we aim to support continuous multi-camera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take our word for it—verify it yourself. Please scan the QR code to experience VERIFYX running live on your mobile device right now. Thank you, and we're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5067299" cy="320040"/>
          </a:xfrm>
          <a:prstGeom prst="rect">
            <a:avLst/>
          </a:prstGeom>
          <a:noFill/>
        </p:spPr>
        <p:txBody>
          <a:bodyPr wrap="none" lIns="0" tIns="0" rIns="0" bIns="0">
            <a:spAutoFit/>
          </a:bodyPr>
          <a:lstStyle/>
          <a:p>
            <a:pPr>
              <a:defRPr sz="1400" b="1">
                <a:solidFill>
                  <a:srgbClr val="00E5FF"/>
                </a:solidFill>
                <a:latin typeface="Segoe UI"/>
              </a:defRPr>
            </a:pPr>
            <a:r>
              <a:t>VERIFYX</a:t>
            </a:r>
          </a:p>
        </p:txBody>
      </p:sp>
      <p:sp>
        <p:nvSpPr>
          <p:cNvPr id="4" name="TextBox 3"/>
          <p:cNvSpPr txBox="1"/>
          <p:nvPr/>
        </p:nvSpPr>
        <p:spPr>
          <a:xfrm>
            <a:off x="914400" y="1828800"/>
            <a:ext cx="5524499" cy="1371600"/>
          </a:xfrm>
          <a:prstGeom prst="rect">
            <a:avLst/>
          </a:prstGeom>
          <a:noFill/>
        </p:spPr>
        <p:txBody>
          <a:bodyPr wrap="square" lIns="0" tIns="0" rIns="0" bIns="0">
            <a:spAutoFit/>
          </a:bodyPr>
          <a:lstStyle/>
          <a:p>
            <a:pPr>
              <a:defRPr sz="4000" b="1">
                <a:solidFill>
                  <a:srgbClr val="F8FAFC"/>
                </a:solidFill>
                <a:latin typeface="Segoe UI"/>
              </a:defRPr>
            </a:pPr>
            <a:r>
              <a:t>VERIFY BEFORE</a:t>
            </a:r>
            <a:br/>
            <a:r>
              <a:t>YOU TRUST.</a:t>
            </a:r>
          </a:p>
        </p:txBody>
      </p:sp>
      <p:sp>
        <p:nvSpPr>
          <p:cNvPr id="5" name="TextBox 4"/>
          <p:cNvSpPr txBox="1"/>
          <p:nvPr/>
        </p:nvSpPr>
        <p:spPr>
          <a:xfrm>
            <a:off x="914400" y="3429000"/>
            <a:ext cx="5067299" cy="685800"/>
          </a:xfrm>
          <a:prstGeom prst="rect">
            <a:avLst/>
          </a:prstGeom>
          <a:noFill/>
        </p:spPr>
        <p:txBody>
          <a:bodyPr wrap="square" lIns="0" tIns="0" rIns="0" bIns="0">
            <a:spAutoFit/>
          </a:bodyPr>
          <a:lstStyle/>
          <a:p>
            <a:pPr>
              <a:defRPr sz="1700" b="0">
                <a:solidFill>
                  <a:srgbClr val="94A3B8"/>
                </a:solidFill>
                <a:latin typeface="Segoe UI"/>
              </a:defRPr>
            </a:pPr>
            <a:r>
              <a:t>AI-powered visual verification for physical workplace conditions.</a:t>
            </a:r>
          </a:p>
        </p:txBody>
      </p:sp>
      <p:sp>
        <p:nvSpPr>
          <p:cNvPr id="6" name="Rectangle 5"/>
          <p:cNvSpPr/>
          <p:nvPr/>
        </p:nvSpPr>
        <p:spPr>
          <a:xfrm>
            <a:off x="914400" y="4434840"/>
            <a:ext cx="1508760" cy="402336"/>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507992"/>
            <a:ext cx="1508760" cy="402336"/>
          </a:xfrm>
          <a:prstGeom prst="rect">
            <a:avLst/>
          </a:prstGeom>
          <a:noFill/>
        </p:spPr>
        <p:txBody>
          <a:bodyPr wrap="none" lIns="0" tIns="0" rIns="0" bIns="0">
            <a:spAutoFit/>
          </a:bodyPr>
          <a:lstStyle/>
          <a:p>
            <a:pPr algn="ctr">
              <a:defRPr sz="1100" b="1">
                <a:solidFill>
                  <a:srgbClr val="10B981"/>
                </a:solidFill>
                <a:latin typeface="Segoe UI"/>
              </a:defRPr>
            </a:pPr>
            <a:r>
              <a:t>●  LIVE</a:t>
            </a:r>
          </a:p>
        </p:txBody>
      </p:sp>
      <p:sp>
        <p:nvSpPr>
          <p:cNvPr id="8" name="Rectangle 7"/>
          <p:cNvSpPr/>
          <p:nvPr/>
        </p:nvSpPr>
        <p:spPr>
          <a:xfrm>
            <a:off x="2587752" y="4434840"/>
            <a:ext cx="1508760" cy="402336"/>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87752" y="4507992"/>
            <a:ext cx="1508760" cy="402336"/>
          </a:xfrm>
          <a:prstGeom prst="rect">
            <a:avLst/>
          </a:prstGeom>
          <a:noFill/>
        </p:spPr>
        <p:txBody>
          <a:bodyPr wrap="none" lIns="0" tIns="0" rIns="0" bIns="0">
            <a:spAutoFit/>
          </a:bodyPr>
          <a:lstStyle/>
          <a:p>
            <a:pPr algn="ctr">
              <a:defRPr sz="1100" b="1">
                <a:solidFill>
                  <a:srgbClr val="00E5FF"/>
                </a:solidFill>
                <a:latin typeface="Segoe UI"/>
              </a:defRPr>
            </a:pPr>
            <a:r>
              <a:t>●  ON-DEVICE</a:t>
            </a:r>
          </a:p>
        </p:txBody>
      </p:sp>
      <p:sp>
        <p:nvSpPr>
          <p:cNvPr id="10" name="Rectangle 9"/>
          <p:cNvSpPr/>
          <p:nvPr/>
        </p:nvSpPr>
        <p:spPr>
          <a:xfrm>
            <a:off x="4261104" y="4434840"/>
            <a:ext cx="1508760" cy="402336"/>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61104" y="4507992"/>
            <a:ext cx="1508760" cy="402336"/>
          </a:xfrm>
          <a:prstGeom prst="rect">
            <a:avLst/>
          </a:prstGeom>
          <a:noFill/>
        </p:spPr>
        <p:txBody>
          <a:bodyPr wrap="none" lIns="0" tIns="0" rIns="0" bIns="0">
            <a:spAutoFit/>
          </a:bodyPr>
          <a:lstStyle/>
          <a:p>
            <a:pPr algn="ctr">
              <a:defRPr sz="1100" b="1">
                <a:solidFill>
                  <a:srgbClr val="00E5FF"/>
                </a:solidFill>
                <a:latin typeface="Segoe UI"/>
              </a:defRPr>
            </a:pPr>
            <a:r>
              <a:t>●  EXPLAINABLE</a:t>
            </a:r>
          </a:p>
        </p:txBody>
      </p:sp>
      <p:pic>
        <p:nvPicPr>
          <p:cNvPr id="12" name="Picture 11" descr="slide1_detection_viewport.png"/>
          <p:cNvPicPr>
            <a:picLocks noChangeAspect="1"/>
          </p:cNvPicPr>
          <p:nvPr/>
        </p:nvPicPr>
        <p:blipFill>
          <a:blip r:embed="rId2"/>
          <a:stretch>
            <a:fillRect/>
          </a:stretch>
        </p:blipFill>
        <p:spPr>
          <a:xfrm>
            <a:off x="6210299" y="1371600"/>
            <a:ext cx="5067299" cy="4389120"/>
          </a:xfrm>
          <a:prstGeom prst="rect">
            <a:avLst/>
          </a:prstGeom>
        </p:spPr>
      </p:pic>
      <p:sp>
        <p:nvSpPr>
          <p:cNvPr id="13" name="Rectangle 12"/>
          <p:cNvSpPr/>
          <p:nvPr/>
        </p:nvSpPr>
        <p:spPr>
          <a:xfrm>
            <a:off x="914400" y="6263640"/>
            <a:ext cx="10363199"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327648"/>
            <a:ext cx="5067299" cy="274320"/>
          </a:xfrm>
          <a:prstGeom prst="rect">
            <a:avLst/>
          </a:prstGeom>
          <a:noFill/>
        </p:spPr>
        <p:txBody>
          <a:bodyPr wrap="none" lIns="0" tIns="0" rIns="0" bIns="0">
            <a:spAutoFit/>
          </a:bodyPr>
          <a:lstStyle/>
          <a:p>
            <a:pPr>
              <a:defRPr sz="950">
                <a:solidFill>
                  <a:srgbClr val="475569"/>
                </a:solidFill>
                <a:latin typeface="Segoe UI"/>
              </a:defRPr>
            </a:pPr>
            <a:r>
              <a:t>VERIFYX  ·  AI VISUAL VERIFICATION ENGINE</a:t>
            </a:r>
          </a:p>
        </p:txBody>
      </p:sp>
      <p:sp>
        <p:nvSpPr>
          <p:cNvPr id="15" name="TextBox 14"/>
          <p:cNvSpPr txBox="1"/>
          <p:nvPr/>
        </p:nvSpPr>
        <p:spPr>
          <a:xfrm>
            <a:off x="6210299" y="6327648"/>
            <a:ext cx="5067299" cy="274320"/>
          </a:xfrm>
          <a:prstGeom prst="rect">
            <a:avLst/>
          </a:prstGeom>
          <a:noFill/>
        </p:spPr>
        <p:txBody>
          <a:bodyPr wrap="none" lIns="0" tIns="0" rIns="0" bIns="0">
            <a:spAutoFit/>
          </a:bodyPr>
          <a:lstStyle/>
          <a:p>
            <a:pPr algn="r">
              <a:defRPr sz="950">
                <a:solidFill>
                  <a:srgbClr val="475569"/>
                </a:solidFill>
                <a:latin typeface="Segoe UI"/>
              </a:defRPr>
            </a:pPr>
            <a:r>
              <a:t>verifyx-gray.vercel.app  ·  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63199" cy="256032"/>
          </a:xfrm>
          <a:prstGeom prst="rect">
            <a:avLst/>
          </a:prstGeom>
          <a:noFill/>
        </p:spPr>
        <p:txBody>
          <a:bodyPr wrap="none" lIns="0" tIns="0" rIns="0" bIns="0">
            <a:spAutoFit/>
          </a:bodyPr>
          <a:lstStyle/>
          <a:p>
            <a:pPr>
              <a:defRPr sz="1100" b="1">
                <a:solidFill>
                  <a:srgbClr val="00E5FF"/>
                </a:solidFill>
                <a:latin typeface="Segoe UI"/>
              </a:defRPr>
            </a:pPr>
            <a:r>
              <a:t>THE PROBLEM</a:t>
            </a:r>
          </a:p>
        </p:txBody>
      </p:sp>
      <p:sp>
        <p:nvSpPr>
          <p:cNvPr id="4" name="TextBox 3"/>
          <p:cNvSpPr txBox="1"/>
          <p:nvPr/>
        </p:nvSpPr>
        <p:spPr>
          <a:xfrm>
            <a:off x="914400" y="896112"/>
            <a:ext cx="10363199" cy="594360"/>
          </a:xfrm>
          <a:prstGeom prst="rect">
            <a:avLst/>
          </a:prstGeom>
          <a:noFill/>
        </p:spPr>
        <p:txBody>
          <a:bodyPr wrap="square" lIns="0" tIns="0" rIns="0" bIns="0">
            <a:spAutoFit/>
          </a:bodyPr>
          <a:lstStyle/>
          <a:p>
            <a:pPr>
              <a:defRPr sz="3200" b="1">
                <a:solidFill>
                  <a:srgbClr val="F8FAFC"/>
                </a:solidFill>
                <a:latin typeface="Segoe UI"/>
              </a:defRPr>
            </a:pPr>
            <a:r>
              <a:t>VISUAL INSPECTION IS EASY TO MISS.</a:t>
            </a:r>
          </a:p>
        </p:txBody>
      </p:sp>
      <p:sp>
        <p:nvSpPr>
          <p:cNvPr id="5" name="TextBox 4"/>
          <p:cNvSpPr txBox="1"/>
          <p:nvPr/>
        </p:nvSpPr>
        <p:spPr>
          <a:xfrm>
            <a:off x="914400" y="1536192"/>
            <a:ext cx="10363199" cy="320040"/>
          </a:xfrm>
          <a:prstGeom prst="rect">
            <a:avLst/>
          </a:prstGeom>
          <a:noFill/>
        </p:spPr>
        <p:txBody>
          <a:bodyPr wrap="square" lIns="0" tIns="0" rIns="0" bIns="0">
            <a:spAutoFit/>
          </a:bodyPr>
          <a:lstStyle/>
          <a:p>
            <a:pPr>
              <a:defRPr sz="1400" b="0">
                <a:solidFill>
                  <a:srgbClr val="94A3B8"/>
                </a:solidFill>
                <a:latin typeface="Segoe UI"/>
              </a:defRPr>
            </a:pPr>
            <a:r>
              <a:t>Critical spatial conditions are difficult to judge consistently.</a:t>
            </a:r>
          </a:p>
        </p:txBody>
      </p:sp>
      <p:sp>
        <p:nvSpPr>
          <p:cNvPr id="6" name="Rectangle 5"/>
          <p:cNvSpPr/>
          <p:nvPr/>
        </p:nvSpPr>
        <p:spPr>
          <a:xfrm>
            <a:off x="914400" y="2194560"/>
            <a:ext cx="4184649" cy="105156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331720"/>
            <a:ext cx="3727449" cy="777240"/>
          </a:xfrm>
          <a:prstGeom prst="rect">
            <a:avLst/>
          </a:prstGeom>
          <a:noFill/>
        </p:spPr>
        <p:txBody>
          <a:bodyPr wrap="square" lIns="0" tIns="0" rIns="0" bIns="0">
            <a:spAutoFit/>
          </a:bodyPr>
          <a:lstStyle/>
          <a:p>
            <a:pPr>
              <a:defRPr sz="1400" b="1">
                <a:solidFill>
                  <a:srgbClr val="F8FAFC"/>
                </a:solidFill>
                <a:latin typeface="Segoe UI"/>
              </a:defRPr>
            </a:pPr>
            <a:r>
              <a:t>01  ·  Human visual judgement</a:t>
            </a:r>
          </a:p>
          <a:p>
            <a:pPr>
              <a:defRPr sz="1150">
                <a:solidFill>
                  <a:srgbClr val="94A3B8"/>
                </a:solidFill>
                <a:latin typeface="Segoe UI"/>
              </a:defRPr>
            </a:pPr>
            <a:r>
              <a:t>Subjective and prone to inspector fatigue across daily routines.</a:t>
            </a:r>
          </a:p>
        </p:txBody>
      </p:sp>
      <p:sp>
        <p:nvSpPr>
          <p:cNvPr id="8" name="Rectangle 7"/>
          <p:cNvSpPr/>
          <p:nvPr/>
        </p:nvSpPr>
        <p:spPr>
          <a:xfrm>
            <a:off x="914400" y="3429000"/>
            <a:ext cx="4184649" cy="105156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566160"/>
            <a:ext cx="3727449" cy="777240"/>
          </a:xfrm>
          <a:prstGeom prst="rect">
            <a:avLst/>
          </a:prstGeom>
          <a:noFill/>
        </p:spPr>
        <p:txBody>
          <a:bodyPr wrap="square" lIns="0" tIns="0" rIns="0" bIns="0">
            <a:spAutoFit/>
          </a:bodyPr>
          <a:lstStyle/>
          <a:p>
            <a:pPr>
              <a:defRPr sz="1400" b="1">
                <a:solidFill>
                  <a:srgbClr val="F8FAFC"/>
                </a:solidFill>
                <a:latin typeface="Segoe UI"/>
              </a:defRPr>
            </a:pPr>
            <a:r>
              <a:t>02  ·  Difficult spatial relationships</a:t>
            </a:r>
          </a:p>
          <a:p>
            <a:pPr>
              <a:defRPr sz="1150">
                <a:solidFill>
                  <a:srgbClr val="94A3B8"/>
                </a:solidFill>
                <a:latin typeface="Segoe UI"/>
              </a:defRPr>
            </a:pPr>
            <a:r>
              <a:t>Clearances and pathway boundaries cannot be judged by eye reliably.</a:t>
            </a:r>
          </a:p>
        </p:txBody>
      </p:sp>
      <p:sp>
        <p:nvSpPr>
          <p:cNvPr id="10" name="Rectangle 9"/>
          <p:cNvSpPr/>
          <p:nvPr/>
        </p:nvSpPr>
        <p:spPr>
          <a:xfrm>
            <a:off x="914400" y="4663440"/>
            <a:ext cx="4184649" cy="105156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800600"/>
            <a:ext cx="3727449" cy="777240"/>
          </a:xfrm>
          <a:prstGeom prst="rect">
            <a:avLst/>
          </a:prstGeom>
          <a:noFill/>
        </p:spPr>
        <p:txBody>
          <a:bodyPr wrap="square" lIns="0" tIns="0" rIns="0" bIns="0">
            <a:spAutoFit/>
          </a:bodyPr>
          <a:lstStyle/>
          <a:p>
            <a:pPr>
              <a:defRPr sz="1400" b="1">
                <a:solidFill>
                  <a:srgbClr val="F8FAFC"/>
                </a:solidFill>
                <a:latin typeface="Segoe UI"/>
              </a:defRPr>
            </a:pPr>
            <a:r>
              <a:t>03  ·  Disconnected remediation</a:t>
            </a:r>
          </a:p>
          <a:p>
            <a:pPr>
              <a:defRPr sz="1150">
                <a:solidFill>
                  <a:srgbClr val="94A3B8"/>
                </a:solidFill>
                <a:latin typeface="Segoe UI"/>
              </a:defRPr>
            </a:pPr>
            <a:r>
              <a:t>Issues are flagged manually without verifiable evidence of a fix.</a:t>
            </a:r>
          </a:p>
        </p:txBody>
      </p:sp>
      <p:pic>
        <p:nvPicPr>
          <p:cNvPr id="12" name="Picture 11" descr="slide2_workplace_hazard.jpg"/>
          <p:cNvPicPr>
            <a:picLocks noChangeAspect="1"/>
          </p:cNvPicPr>
          <p:nvPr/>
        </p:nvPicPr>
        <p:blipFill>
          <a:blip r:embed="rId2"/>
          <a:stretch>
            <a:fillRect/>
          </a:stretch>
        </p:blipFill>
        <p:spPr>
          <a:xfrm>
            <a:off x="5327649" y="2148840"/>
            <a:ext cx="5949949" cy="3794760"/>
          </a:xfrm>
          <a:prstGeom prst="rect">
            <a:avLst/>
          </a:prstGeom>
        </p:spPr>
      </p:pic>
      <p:sp>
        <p:nvSpPr>
          <p:cNvPr id="13" name="Rectangle 12"/>
          <p:cNvSpPr/>
          <p:nvPr/>
        </p:nvSpPr>
        <p:spPr>
          <a:xfrm>
            <a:off x="914400" y="6263640"/>
            <a:ext cx="10363199"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327648"/>
            <a:ext cx="5067299" cy="274320"/>
          </a:xfrm>
          <a:prstGeom prst="rect">
            <a:avLst/>
          </a:prstGeom>
          <a:noFill/>
        </p:spPr>
        <p:txBody>
          <a:bodyPr wrap="none" lIns="0" tIns="0" rIns="0" bIns="0">
            <a:spAutoFit/>
          </a:bodyPr>
          <a:lstStyle/>
          <a:p>
            <a:pPr>
              <a:defRPr sz="950">
                <a:solidFill>
                  <a:srgbClr val="475569"/>
                </a:solidFill>
                <a:latin typeface="Segoe UI"/>
              </a:defRPr>
            </a:pPr>
            <a:r>
              <a:t>VERIFYX  ·  AI VISUAL VERIFICATION ENGINE</a:t>
            </a:r>
          </a:p>
        </p:txBody>
      </p:sp>
      <p:sp>
        <p:nvSpPr>
          <p:cNvPr id="15" name="TextBox 14"/>
          <p:cNvSpPr txBox="1"/>
          <p:nvPr/>
        </p:nvSpPr>
        <p:spPr>
          <a:xfrm>
            <a:off x="6210299" y="6327648"/>
            <a:ext cx="5067299" cy="274320"/>
          </a:xfrm>
          <a:prstGeom prst="rect">
            <a:avLst/>
          </a:prstGeom>
          <a:noFill/>
        </p:spPr>
        <p:txBody>
          <a:bodyPr wrap="none" lIns="0" tIns="0" rIns="0" bIns="0">
            <a:spAutoFit/>
          </a:bodyPr>
          <a:lstStyle/>
          <a:p>
            <a:pPr algn="r">
              <a:defRPr sz="950">
                <a:solidFill>
                  <a:srgbClr val="475569"/>
                </a:solidFill>
                <a:latin typeface="Segoe UI"/>
              </a:defRPr>
            </a:pPr>
            <a:r>
              <a:t>verifyx-gray.vercel.app  ·  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63199" cy="256032"/>
          </a:xfrm>
          <a:prstGeom prst="rect">
            <a:avLst/>
          </a:prstGeom>
          <a:noFill/>
        </p:spPr>
        <p:txBody>
          <a:bodyPr wrap="none" lIns="0" tIns="0" rIns="0" bIns="0">
            <a:spAutoFit/>
          </a:bodyPr>
          <a:lstStyle/>
          <a:p>
            <a:pPr>
              <a:defRPr sz="1100" b="1">
                <a:solidFill>
                  <a:srgbClr val="00E5FF"/>
                </a:solidFill>
                <a:latin typeface="Segoe UI"/>
              </a:defRPr>
            </a:pPr>
            <a:r>
              <a:t>CORE INSIGHT</a:t>
            </a:r>
          </a:p>
        </p:txBody>
      </p:sp>
      <p:sp>
        <p:nvSpPr>
          <p:cNvPr id="4" name="TextBox 3"/>
          <p:cNvSpPr txBox="1"/>
          <p:nvPr/>
        </p:nvSpPr>
        <p:spPr>
          <a:xfrm>
            <a:off x="914400" y="896112"/>
            <a:ext cx="10363199" cy="594360"/>
          </a:xfrm>
          <a:prstGeom prst="rect">
            <a:avLst/>
          </a:prstGeom>
          <a:noFill/>
        </p:spPr>
        <p:txBody>
          <a:bodyPr wrap="square" lIns="0" tIns="0" rIns="0" bIns="0">
            <a:spAutoFit/>
          </a:bodyPr>
          <a:lstStyle/>
          <a:p>
            <a:pPr>
              <a:defRPr sz="3200" b="1">
                <a:solidFill>
                  <a:srgbClr val="F8FAFC"/>
                </a:solidFill>
                <a:latin typeface="Segoe UI"/>
              </a:defRPr>
            </a:pPr>
            <a:r>
              <a:t>DETECTION ≠ VERIFICATION</a:t>
            </a:r>
          </a:p>
        </p:txBody>
      </p:sp>
      <p:sp>
        <p:nvSpPr>
          <p:cNvPr id="5" name="TextBox 4"/>
          <p:cNvSpPr txBox="1"/>
          <p:nvPr/>
        </p:nvSpPr>
        <p:spPr>
          <a:xfrm>
            <a:off x="914400" y="1536192"/>
            <a:ext cx="10363199" cy="320040"/>
          </a:xfrm>
          <a:prstGeom prst="rect">
            <a:avLst/>
          </a:prstGeom>
          <a:noFill/>
        </p:spPr>
        <p:txBody>
          <a:bodyPr wrap="square" lIns="0" tIns="0" rIns="0" bIns="0">
            <a:spAutoFit/>
          </a:bodyPr>
          <a:lstStyle/>
          <a:p>
            <a:pPr>
              <a:defRPr sz="1400" b="0">
                <a:solidFill>
                  <a:srgbClr val="94A3B8"/>
                </a:solidFill>
                <a:latin typeface="Segoe UI"/>
              </a:defRPr>
            </a:pPr>
            <a:r>
              <a:t>Detecting an object is not the same as verifying compliance.</a:t>
            </a:r>
          </a:p>
        </p:txBody>
      </p:sp>
      <p:sp>
        <p:nvSpPr>
          <p:cNvPr id="6" name="Rectangle 5"/>
          <p:cNvSpPr/>
          <p:nvPr/>
        </p:nvSpPr>
        <p:spPr>
          <a:xfrm>
            <a:off x="1021079" y="2468880"/>
            <a:ext cx="2057400" cy="182880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8239" y="2743200"/>
            <a:ext cx="1783080" cy="1280160"/>
          </a:xfrm>
          <a:prstGeom prst="rect">
            <a:avLst/>
          </a:prstGeom>
          <a:noFill/>
        </p:spPr>
        <p:txBody>
          <a:bodyPr wrap="square" lIns="0" tIns="0" rIns="0" bIns="0">
            <a:spAutoFit/>
          </a:bodyPr>
          <a:lstStyle/>
          <a:p>
            <a:pPr algn="ctr">
              <a:defRPr sz="1700" b="1">
                <a:solidFill>
                  <a:srgbClr val="00E5FF"/>
                </a:solidFill>
                <a:latin typeface="Segoe UI"/>
              </a:defRPr>
            </a:pPr>
            <a:r>
              <a:t>OBJECT</a:t>
            </a:r>
            <a:br/>
            <a:r>
              <a:t>DETECTED</a:t>
            </a:r>
          </a:p>
          <a:p>
            <a:pPr algn="ctr">
              <a:defRPr sz="1100">
                <a:solidFill>
                  <a:srgbClr val="94A3B8"/>
                </a:solidFill>
                <a:latin typeface="Segoe UI"/>
              </a:defRPr>
            </a:pPr>
            <a:r>
              <a:t>YOLO11n identifies target class &amp; location</a:t>
            </a:r>
          </a:p>
        </p:txBody>
      </p:sp>
      <p:sp>
        <p:nvSpPr>
          <p:cNvPr id="8" name="TextBox 7"/>
          <p:cNvSpPr txBox="1"/>
          <p:nvPr/>
        </p:nvSpPr>
        <p:spPr>
          <a:xfrm>
            <a:off x="3078479" y="2926080"/>
            <a:ext cx="640080" cy="914400"/>
          </a:xfrm>
          <a:prstGeom prst="rect">
            <a:avLst/>
          </a:prstGeom>
          <a:noFill/>
        </p:spPr>
        <p:txBody>
          <a:bodyPr wrap="none" lIns="0" tIns="0" rIns="0" bIns="0">
            <a:spAutoFit/>
          </a:bodyPr>
          <a:lstStyle/>
          <a:p>
            <a:pPr algn="ctr">
              <a:defRPr sz="3600" b="1">
                <a:solidFill>
                  <a:srgbClr val="94A3B8"/>
                </a:solidFill>
                <a:latin typeface="Segoe UI"/>
              </a:defRPr>
            </a:pPr>
            <a:r>
              <a:t>+</a:t>
            </a:r>
          </a:p>
        </p:txBody>
      </p:sp>
      <p:sp>
        <p:nvSpPr>
          <p:cNvPr id="9" name="Rectangle 8"/>
          <p:cNvSpPr/>
          <p:nvPr/>
        </p:nvSpPr>
        <p:spPr>
          <a:xfrm>
            <a:off x="3718559" y="2468880"/>
            <a:ext cx="2057400" cy="182880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55719" y="2743200"/>
            <a:ext cx="1783080" cy="1280160"/>
          </a:xfrm>
          <a:prstGeom prst="rect">
            <a:avLst/>
          </a:prstGeom>
          <a:noFill/>
        </p:spPr>
        <p:txBody>
          <a:bodyPr wrap="square" lIns="0" tIns="0" rIns="0" bIns="0">
            <a:spAutoFit/>
          </a:bodyPr>
          <a:lstStyle/>
          <a:p>
            <a:pPr algn="ctr">
              <a:defRPr sz="1700" b="1">
                <a:solidFill>
                  <a:srgbClr val="00E5FF"/>
                </a:solidFill>
                <a:latin typeface="Segoe UI"/>
              </a:defRPr>
            </a:pPr>
            <a:r>
              <a:t>SPATIAL</a:t>
            </a:r>
            <a:br/>
            <a:r>
              <a:t>RULE</a:t>
            </a:r>
          </a:p>
          <a:p>
            <a:pPr algn="ctr">
              <a:defRPr sz="1100">
                <a:solidFill>
                  <a:srgbClr val="94A3B8"/>
                </a:solidFill>
                <a:latin typeface="Segoe UI"/>
              </a:defRPr>
            </a:pPr>
            <a:r>
              <a:t>Bounding-box overlap &amp; clearance math</a:t>
            </a:r>
          </a:p>
        </p:txBody>
      </p:sp>
      <p:sp>
        <p:nvSpPr>
          <p:cNvPr id="11" name="TextBox 10"/>
          <p:cNvSpPr txBox="1"/>
          <p:nvPr/>
        </p:nvSpPr>
        <p:spPr>
          <a:xfrm>
            <a:off x="5775959" y="2926080"/>
            <a:ext cx="640080" cy="914400"/>
          </a:xfrm>
          <a:prstGeom prst="rect">
            <a:avLst/>
          </a:prstGeom>
          <a:noFill/>
        </p:spPr>
        <p:txBody>
          <a:bodyPr wrap="none" lIns="0" tIns="0" rIns="0" bIns="0">
            <a:spAutoFit/>
          </a:bodyPr>
          <a:lstStyle/>
          <a:p>
            <a:pPr algn="ctr">
              <a:defRPr sz="3600" b="1">
                <a:solidFill>
                  <a:srgbClr val="94A3B8"/>
                </a:solidFill>
                <a:latin typeface="Segoe UI"/>
              </a:defRPr>
            </a:pPr>
            <a:r>
              <a:t>+</a:t>
            </a:r>
          </a:p>
        </p:txBody>
      </p:sp>
      <p:sp>
        <p:nvSpPr>
          <p:cNvPr id="12" name="Rectangle 11"/>
          <p:cNvSpPr/>
          <p:nvPr/>
        </p:nvSpPr>
        <p:spPr>
          <a:xfrm>
            <a:off x="6416039" y="2468880"/>
            <a:ext cx="2057400" cy="182880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3199" y="2743200"/>
            <a:ext cx="1783080" cy="1280160"/>
          </a:xfrm>
          <a:prstGeom prst="rect">
            <a:avLst/>
          </a:prstGeom>
          <a:noFill/>
        </p:spPr>
        <p:txBody>
          <a:bodyPr wrap="square" lIns="0" tIns="0" rIns="0" bIns="0">
            <a:spAutoFit/>
          </a:bodyPr>
          <a:lstStyle/>
          <a:p>
            <a:pPr algn="ctr">
              <a:defRPr sz="1700" b="1">
                <a:solidFill>
                  <a:srgbClr val="00E5FF"/>
                </a:solidFill>
                <a:latin typeface="Segoe UI"/>
              </a:defRPr>
            </a:pPr>
            <a:r>
              <a:t>RESCAN</a:t>
            </a:r>
          </a:p>
          <a:p>
            <a:pPr algn="ctr">
              <a:defRPr sz="1100">
                <a:solidFill>
                  <a:srgbClr val="94A3B8"/>
                </a:solidFill>
                <a:latin typeface="Segoe UI"/>
              </a:defRPr>
            </a:pPr>
            <a:r>
              <a:t>Closed-loop verification of physical fix</a:t>
            </a:r>
          </a:p>
        </p:txBody>
      </p:sp>
      <p:sp>
        <p:nvSpPr>
          <p:cNvPr id="14" name="TextBox 13"/>
          <p:cNvSpPr txBox="1"/>
          <p:nvPr/>
        </p:nvSpPr>
        <p:spPr>
          <a:xfrm>
            <a:off x="8473439" y="2926080"/>
            <a:ext cx="640080" cy="914400"/>
          </a:xfrm>
          <a:prstGeom prst="rect">
            <a:avLst/>
          </a:prstGeom>
          <a:noFill/>
        </p:spPr>
        <p:txBody>
          <a:bodyPr wrap="none" lIns="0" tIns="0" rIns="0" bIns="0">
            <a:spAutoFit/>
          </a:bodyPr>
          <a:lstStyle/>
          <a:p>
            <a:pPr algn="ctr">
              <a:defRPr sz="3600" b="1">
                <a:solidFill>
                  <a:srgbClr val="10B981"/>
                </a:solidFill>
                <a:latin typeface="Segoe UI"/>
              </a:defRPr>
            </a:pPr>
            <a:r>
              <a:t>=</a:t>
            </a:r>
          </a:p>
        </p:txBody>
      </p:sp>
      <p:sp>
        <p:nvSpPr>
          <p:cNvPr id="15" name="Rectangle 14"/>
          <p:cNvSpPr/>
          <p:nvPr/>
        </p:nvSpPr>
        <p:spPr>
          <a:xfrm>
            <a:off x="9113519" y="2468880"/>
            <a:ext cx="2057400" cy="182880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50679" y="2743200"/>
            <a:ext cx="1783080" cy="1280160"/>
          </a:xfrm>
          <a:prstGeom prst="rect">
            <a:avLst/>
          </a:prstGeom>
          <a:noFill/>
        </p:spPr>
        <p:txBody>
          <a:bodyPr wrap="square" lIns="0" tIns="0" rIns="0" bIns="0">
            <a:spAutoFit/>
          </a:bodyPr>
          <a:lstStyle/>
          <a:p>
            <a:pPr algn="ctr">
              <a:defRPr sz="1700" b="1">
                <a:solidFill>
                  <a:srgbClr val="10B981"/>
                </a:solidFill>
                <a:latin typeface="Segoe UI"/>
              </a:defRPr>
            </a:pPr>
            <a:r>
              <a:t>VERIFIED</a:t>
            </a:r>
          </a:p>
          <a:p>
            <a:pPr algn="ctr">
              <a:defRPr sz="1100">
                <a:solidFill>
                  <a:srgbClr val="94A3B8"/>
                </a:solidFill>
                <a:latin typeface="Segoe UI"/>
              </a:defRPr>
            </a:pPr>
            <a:r>
              <a:t>Structured, explainable compliance record</a:t>
            </a:r>
          </a:p>
        </p:txBody>
      </p:sp>
      <p:sp>
        <p:nvSpPr>
          <p:cNvPr id="17" name="TextBox 16"/>
          <p:cNvSpPr txBox="1"/>
          <p:nvPr/>
        </p:nvSpPr>
        <p:spPr>
          <a:xfrm>
            <a:off x="1797049" y="4937760"/>
            <a:ext cx="8597899" cy="548640"/>
          </a:xfrm>
          <a:prstGeom prst="rect">
            <a:avLst/>
          </a:prstGeom>
          <a:noFill/>
        </p:spPr>
        <p:txBody>
          <a:bodyPr wrap="square" lIns="0" tIns="0" rIns="0" bIns="0">
            <a:spAutoFit/>
          </a:bodyPr>
          <a:lstStyle/>
          <a:p>
            <a:pPr algn="ctr">
              <a:defRPr sz="1800" b="1">
                <a:solidFill>
                  <a:srgbClr val="F8FAFC"/>
                </a:solidFill>
                <a:latin typeface="Segoe UI"/>
              </a:defRPr>
            </a:pPr>
            <a:r>
              <a:t>VERIFYX turns visual detection into an explainable verification workflow.</a:t>
            </a:r>
          </a:p>
        </p:txBody>
      </p:sp>
      <p:sp>
        <p:nvSpPr>
          <p:cNvPr id="18" name="Rectangle 17"/>
          <p:cNvSpPr/>
          <p:nvPr/>
        </p:nvSpPr>
        <p:spPr>
          <a:xfrm>
            <a:off x="914400" y="6263640"/>
            <a:ext cx="10363199"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6327648"/>
            <a:ext cx="5067299" cy="274320"/>
          </a:xfrm>
          <a:prstGeom prst="rect">
            <a:avLst/>
          </a:prstGeom>
          <a:noFill/>
        </p:spPr>
        <p:txBody>
          <a:bodyPr wrap="none" lIns="0" tIns="0" rIns="0" bIns="0">
            <a:spAutoFit/>
          </a:bodyPr>
          <a:lstStyle/>
          <a:p>
            <a:pPr>
              <a:defRPr sz="950">
                <a:solidFill>
                  <a:srgbClr val="475569"/>
                </a:solidFill>
                <a:latin typeface="Segoe UI"/>
              </a:defRPr>
            </a:pPr>
            <a:r>
              <a:t>VERIFYX  ·  AI VISUAL VERIFICATION ENGINE</a:t>
            </a:r>
          </a:p>
        </p:txBody>
      </p:sp>
      <p:sp>
        <p:nvSpPr>
          <p:cNvPr id="20" name="TextBox 19"/>
          <p:cNvSpPr txBox="1"/>
          <p:nvPr/>
        </p:nvSpPr>
        <p:spPr>
          <a:xfrm>
            <a:off x="6210299" y="6327648"/>
            <a:ext cx="5067299" cy="274320"/>
          </a:xfrm>
          <a:prstGeom prst="rect">
            <a:avLst/>
          </a:prstGeom>
          <a:noFill/>
        </p:spPr>
        <p:txBody>
          <a:bodyPr wrap="none" lIns="0" tIns="0" rIns="0" bIns="0">
            <a:spAutoFit/>
          </a:bodyPr>
          <a:lstStyle/>
          <a:p>
            <a:pPr algn="r">
              <a:defRPr sz="950">
                <a:solidFill>
                  <a:srgbClr val="475569"/>
                </a:solidFill>
                <a:latin typeface="Segoe UI"/>
              </a:defRPr>
            </a:pPr>
            <a:r>
              <a:t>verifyx-gray.vercel.app  ·  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63199" cy="256032"/>
          </a:xfrm>
          <a:prstGeom prst="rect">
            <a:avLst/>
          </a:prstGeom>
          <a:noFill/>
        </p:spPr>
        <p:txBody>
          <a:bodyPr wrap="none" lIns="0" tIns="0" rIns="0" bIns="0">
            <a:spAutoFit/>
          </a:bodyPr>
          <a:lstStyle/>
          <a:p>
            <a:pPr>
              <a:defRPr sz="1100" b="1">
                <a:solidFill>
                  <a:srgbClr val="00E5FF"/>
                </a:solidFill>
                <a:latin typeface="Segoe UI"/>
              </a:defRPr>
            </a:pPr>
            <a:r>
              <a:t>THE PRODUCT</a:t>
            </a:r>
          </a:p>
        </p:txBody>
      </p:sp>
      <p:sp>
        <p:nvSpPr>
          <p:cNvPr id="4" name="TextBox 3"/>
          <p:cNvSpPr txBox="1"/>
          <p:nvPr/>
        </p:nvSpPr>
        <p:spPr>
          <a:xfrm>
            <a:off x="914400" y="896112"/>
            <a:ext cx="10363199" cy="594360"/>
          </a:xfrm>
          <a:prstGeom prst="rect">
            <a:avLst/>
          </a:prstGeom>
          <a:noFill/>
        </p:spPr>
        <p:txBody>
          <a:bodyPr wrap="square" lIns="0" tIns="0" rIns="0" bIns="0">
            <a:spAutoFit/>
          </a:bodyPr>
          <a:lstStyle/>
          <a:p>
            <a:pPr>
              <a:defRPr sz="3200" b="1">
                <a:solidFill>
                  <a:srgbClr val="F8FAFC"/>
                </a:solidFill>
                <a:latin typeface="Segoe UI"/>
              </a:defRPr>
            </a:pPr>
            <a:r>
              <a:t>POINT. VERIFY. FIX.</a:t>
            </a:r>
          </a:p>
        </p:txBody>
      </p:sp>
      <p:sp>
        <p:nvSpPr>
          <p:cNvPr id="5" name="TextBox 4"/>
          <p:cNvSpPr txBox="1"/>
          <p:nvPr/>
        </p:nvSpPr>
        <p:spPr>
          <a:xfrm>
            <a:off x="914400" y="1536192"/>
            <a:ext cx="10363199" cy="320040"/>
          </a:xfrm>
          <a:prstGeom prst="rect">
            <a:avLst/>
          </a:prstGeom>
          <a:noFill/>
        </p:spPr>
        <p:txBody>
          <a:bodyPr wrap="square" lIns="0" tIns="0" rIns="0" bIns="0">
            <a:spAutoFit/>
          </a:bodyPr>
          <a:lstStyle/>
          <a:p>
            <a:pPr>
              <a:defRPr sz="1400" b="0">
                <a:solidFill>
                  <a:srgbClr val="94A3B8"/>
                </a:solidFill>
                <a:latin typeface="Segoe UI"/>
              </a:defRPr>
            </a:pPr>
            <a:r>
              <a:t>Real-time browser-local inspection interface.</a:t>
            </a:r>
          </a:p>
        </p:txBody>
      </p:sp>
      <p:pic>
        <p:nvPicPr>
          <p:cNvPr id="6" name="Picture 5" descr="slide4_product_centered.png"/>
          <p:cNvPicPr>
            <a:picLocks noChangeAspect="1"/>
          </p:cNvPicPr>
          <p:nvPr/>
        </p:nvPicPr>
        <p:blipFill>
          <a:blip r:embed="rId2"/>
          <a:stretch>
            <a:fillRect/>
          </a:stretch>
        </p:blipFill>
        <p:spPr>
          <a:xfrm>
            <a:off x="914400" y="2011680"/>
            <a:ext cx="6832599" cy="3931920"/>
          </a:xfrm>
          <a:prstGeom prst="rect">
            <a:avLst/>
          </a:prstGeom>
        </p:spPr>
      </p:pic>
      <p:sp>
        <p:nvSpPr>
          <p:cNvPr id="7" name="Rectangle 6"/>
          <p:cNvSpPr/>
          <p:nvPr/>
        </p:nvSpPr>
        <p:spPr>
          <a:xfrm>
            <a:off x="7975599" y="2011680"/>
            <a:ext cx="3301999" cy="86868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8479" y="2121408"/>
            <a:ext cx="2936239" cy="640080"/>
          </a:xfrm>
          <a:prstGeom prst="rect">
            <a:avLst/>
          </a:prstGeom>
          <a:noFill/>
        </p:spPr>
        <p:txBody>
          <a:bodyPr wrap="square" lIns="0" tIns="0" rIns="0" bIns="0">
            <a:spAutoFit/>
          </a:bodyPr>
          <a:lstStyle/>
          <a:p>
            <a:pPr>
              <a:defRPr sz="1400" b="1">
                <a:solidFill>
                  <a:srgbClr val="00E5FF"/>
                </a:solidFill>
                <a:latin typeface="Segoe UI"/>
              </a:defRPr>
            </a:pPr>
            <a:r>
              <a:t>LIVE SCAN</a:t>
            </a:r>
          </a:p>
          <a:p>
            <a:pPr>
              <a:defRPr sz="1100">
                <a:solidFill>
                  <a:srgbClr val="94A3B8"/>
                </a:solidFill>
                <a:latin typeface="Segoe UI"/>
              </a:defRPr>
            </a:pPr>
            <a:r>
              <a:t>Target scene via mobile or desktop camera</a:t>
            </a:r>
          </a:p>
        </p:txBody>
      </p:sp>
      <p:sp>
        <p:nvSpPr>
          <p:cNvPr id="9" name="Rectangle 8"/>
          <p:cNvSpPr/>
          <p:nvPr/>
        </p:nvSpPr>
        <p:spPr>
          <a:xfrm>
            <a:off x="7975599" y="3035808"/>
            <a:ext cx="3301999" cy="86868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8479" y="3145536"/>
            <a:ext cx="2936239" cy="640080"/>
          </a:xfrm>
          <a:prstGeom prst="rect">
            <a:avLst/>
          </a:prstGeom>
          <a:noFill/>
        </p:spPr>
        <p:txBody>
          <a:bodyPr wrap="square" lIns="0" tIns="0" rIns="0" bIns="0">
            <a:spAutoFit/>
          </a:bodyPr>
          <a:lstStyle/>
          <a:p>
            <a:pPr>
              <a:defRPr sz="1400" b="1">
                <a:solidFill>
                  <a:srgbClr val="F8FAFC"/>
                </a:solidFill>
                <a:latin typeface="Segoe UI"/>
              </a:defRPr>
            </a:pPr>
            <a:r>
              <a:t>DETECT</a:t>
            </a:r>
          </a:p>
          <a:p>
            <a:pPr>
              <a:defRPr sz="1100">
                <a:solidFill>
                  <a:srgbClr val="94A3B8"/>
                </a:solidFill>
                <a:latin typeface="Segoe UI"/>
              </a:defRPr>
            </a:pPr>
            <a:r>
              <a:t>Run on-device YOLO11n ONNX inference</a:t>
            </a:r>
          </a:p>
        </p:txBody>
      </p:sp>
      <p:sp>
        <p:nvSpPr>
          <p:cNvPr id="11" name="Rectangle 10"/>
          <p:cNvSpPr/>
          <p:nvPr/>
        </p:nvSpPr>
        <p:spPr>
          <a:xfrm>
            <a:off x="7975599" y="4059936"/>
            <a:ext cx="3301999" cy="86868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8479" y="4169664"/>
            <a:ext cx="2936239" cy="640080"/>
          </a:xfrm>
          <a:prstGeom prst="rect">
            <a:avLst/>
          </a:prstGeom>
          <a:noFill/>
        </p:spPr>
        <p:txBody>
          <a:bodyPr wrap="square" lIns="0" tIns="0" rIns="0" bIns="0">
            <a:spAutoFit/>
          </a:bodyPr>
          <a:lstStyle/>
          <a:p>
            <a:pPr>
              <a:defRPr sz="1400" b="1">
                <a:solidFill>
                  <a:srgbClr val="00E5FF"/>
                </a:solidFill>
                <a:latin typeface="Segoe UI"/>
              </a:defRPr>
            </a:pPr>
            <a:r>
              <a:t>EXPLAIN</a:t>
            </a:r>
          </a:p>
          <a:p>
            <a:pPr>
              <a:defRPr sz="1100">
                <a:solidFill>
                  <a:srgbClr val="94A3B8"/>
                </a:solidFill>
                <a:latin typeface="Segoe UI"/>
              </a:defRPr>
            </a:pPr>
            <a:r>
              <a:t>Evaluate geometric rules and state reasons</a:t>
            </a:r>
          </a:p>
        </p:txBody>
      </p:sp>
      <p:sp>
        <p:nvSpPr>
          <p:cNvPr id="13" name="Rectangle 12"/>
          <p:cNvSpPr/>
          <p:nvPr/>
        </p:nvSpPr>
        <p:spPr>
          <a:xfrm>
            <a:off x="7975599" y="5084064"/>
            <a:ext cx="3301999" cy="86868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8479" y="5193792"/>
            <a:ext cx="2936239" cy="640080"/>
          </a:xfrm>
          <a:prstGeom prst="rect">
            <a:avLst/>
          </a:prstGeom>
          <a:noFill/>
        </p:spPr>
        <p:txBody>
          <a:bodyPr wrap="square" lIns="0" tIns="0" rIns="0" bIns="0">
            <a:spAutoFit/>
          </a:bodyPr>
          <a:lstStyle/>
          <a:p>
            <a:pPr>
              <a:defRPr sz="1400" b="1">
                <a:solidFill>
                  <a:srgbClr val="10B981"/>
                </a:solidFill>
                <a:latin typeface="Segoe UI"/>
              </a:defRPr>
            </a:pPr>
            <a:r>
              <a:t>RESCAN</a:t>
            </a:r>
          </a:p>
          <a:p>
            <a:pPr>
              <a:defRPr sz="1100">
                <a:solidFill>
                  <a:srgbClr val="94A3B8"/>
                </a:solidFill>
                <a:latin typeface="Segoe UI"/>
              </a:defRPr>
            </a:pPr>
            <a:r>
              <a:t>Confirm physical hazard removal before exit</a:t>
            </a:r>
          </a:p>
        </p:txBody>
      </p:sp>
      <p:sp>
        <p:nvSpPr>
          <p:cNvPr id="15" name="Rectangle 14"/>
          <p:cNvSpPr/>
          <p:nvPr/>
        </p:nvSpPr>
        <p:spPr>
          <a:xfrm>
            <a:off x="914400" y="6263640"/>
            <a:ext cx="10363199"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6327648"/>
            <a:ext cx="5067299" cy="274320"/>
          </a:xfrm>
          <a:prstGeom prst="rect">
            <a:avLst/>
          </a:prstGeom>
          <a:noFill/>
        </p:spPr>
        <p:txBody>
          <a:bodyPr wrap="none" lIns="0" tIns="0" rIns="0" bIns="0">
            <a:spAutoFit/>
          </a:bodyPr>
          <a:lstStyle/>
          <a:p>
            <a:pPr>
              <a:defRPr sz="950">
                <a:solidFill>
                  <a:srgbClr val="475569"/>
                </a:solidFill>
                <a:latin typeface="Segoe UI"/>
              </a:defRPr>
            </a:pPr>
            <a:r>
              <a:t>VERIFYX  ·  AI VISUAL VERIFICATION ENGINE</a:t>
            </a:r>
          </a:p>
        </p:txBody>
      </p:sp>
      <p:sp>
        <p:nvSpPr>
          <p:cNvPr id="17" name="TextBox 16"/>
          <p:cNvSpPr txBox="1"/>
          <p:nvPr/>
        </p:nvSpPr>
        <p:spPr>
          <a:xfrm>
            <a:off x="6210299" y="6327648"/>
            <a:ext cx="5067299" cy="274320"/>
          </a:xfrm>
          <a:prstGeom prst="rect">
            <a:avLst/>
          </a:prstGeom>
          <a:noFill/>
        </p:spPr>
        <p:txBody>
          <a:bodyPr wrap="none" lIns="0" tIns="0" rIns="0" bIns="0">
            <a:spAutoFit/>
          </a:bodyPr>
          <a:lstStyle/>
          <a:p>
            <a:pPr algn="r">
              <a:defRPr sz="950">
                <a:solidFill>
                  <a:srgbClr val="475569"/>
                </a:solidFill>
                <a:latin typeface="Segoe UI"/>
              </a:defRPr>
            </a:pPr>
            <a:r>
              <a:t>verifyx-gray.vercel.app  ·  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63199" cy="256032"/>
          </a:xfrm>
          <a:prstGeom prst="rect">
            <a:avLst/>
          </a:prstGeom>
          <a:noFill/>
        </p:spPr>
        <p:txBody>
          <a:bodyPr wrap="none" lIns="0" tIns="0" rIns="0" bIns="0">
            <a:spAutoFit/>
          </a:bodyPr>
          <a:lstStyle/>
          <a:p>
            <a:pPr>
              <a:defRPr sz="1100" b="1">
                <a:solidFill>
                  <a:srgbClr val="00E5FF"/>
                </a:solidFill>
                <a:latin typeface="Segoe UI"/>
              </a:defRPr>
            </a:pPr>
            <a:r>
              <a:t>SYSTEM ARCHITECTURE</a:t>
            </a:r>
          </a:p>
        </p:txBody>
      </p:sp>
      <p:sp>
        <p:nvSpPr>
          <p:cNvPr id="4" name="TextBox 3"/>
          <p:cNvSpPr txBox="1"/>
          <p:nvPr/>
        </p:nvSpPr>
        <p:spPr>
          <a:xfrm>
            <a:off x="914400" y="896112"/>
            <a:ext cx="10363199" cy="594360"/>
          </a:xfrm>
          <a:prstGeom prst="rect">
            <a:avLst/>
          </a:prstGeom>
          <a:noFill/>
        </p:spPr>
        <p:txBody>
          <a:bodyPr wrap="square" lIns="0" tIns="0" rIns="0" bIns="0">
            <a:spAutoFit/>
          </a:bodyPr>
          <a:lstStyle/>
          <a:p>
            <a:pPr>
              <a:defRPr sz="3200" b="1">
                <a:solidFill>
                  <a:srgbClr val="F8FAFC"/>
                </a:solidFill>
                <a:latin typeface="Segoe UI"/>
              </a:defRPr>
            </a:pPr>
            <a:r>
              <a:t>FROM CAMERA TO VERDICT.</a:t>
            </a:r>
          </a:p>
        </p:txBody>
      </p:sp>
      <p:sp>
        <p:nvSpPr>
          <p:cNvPr id="5" name="TextBox 4"/>
          <p:cNvSpPr txBox="1"/>
          <p:nvPr/>
        </p:nvSpPr>
        <p:spPr>
          <a:xfrm>
            <a:off x="914400" y="1536192"/>
            <a:ext cx="10363199" cy="320040"/>
          </a:xfrm>
          <a:prstGeom prst="rect">
            <a:avLst/>
          </a:prstGeom>
          <a:noFill/>
        </p:spPr>
        <p:txBody>
          <a:bodyPr wrap="square" lIns="0" tIns="0" rIns="0" bIns="0">
            <a:spAutoFit/>
          </a:bodyPr>
          <a:lstStyle/>
          <a:p>
            <a:pPr>
              <a:defRPr sz="1400" b="0">
                <a:solidFill>
                  <a:srgbClr val="94A3B8"/>
                </a:solidFill>
                <a:latin typeface="Segoe UI"/>
              </a:defRPr>
            </a:pPr>
            <a:r>
              <a:t>A 6-stage deterministic pipeline running client-side.</a:t>
            </a:r>
          </a:p>
        </p:txBody>
      </p:sp>
      <p:sp>
        <p:nvSpPr>
          <p:cNvPr id="6" name="Rectangle 5"/>
          <p:cNvSpPr/>
          <p:nvPr/>
        </p:nvSpPr>
        <p:spPr>
          <a:xfrm>
            <a:off x="914400" y="2377440"/>
            <a:ext cx="1536192" cy="219456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14600"/>
            <a:ext cx="548640" cy="274320"/>
          </a:xfrm>
          <a:prstGeom prst="rect">
            <a:avLst/>
          </a:prstGeom>
          <a:noFill/>
        </p:spPr>
        <p:txBody>
          <a:bodyPr wrap="none" lIns="0" tIns="0" rIns="0" bIns="0">
            <a:spAutoFit/>
          </a:bodyPr>
          <a:lstStyle/>
          <a:p>
            <a:pPr>
              <a:defRPr sz="1100" b="1">
                <a:solidFill>
                  <a:srgbClr val="00E5FF"/>
                </a:solidFill>
                <a:latin typeface="Segoe UI"/>
              </a:defRPr>
            </a:pPr>
            <a:r>
              <a:t>01</a:t>
            </a:r>
          </a:p>
        </p:txBody>
      </p:sp>
      <p:sp>
        <p:nvSpPr>
          <p:cNvPr id="8" name="TextBox 7"/>
          <p:cNvSpPr txBox="1"/>
          <p:nvPr/>
        </p:nvSpPr>
        <p:spPr>
          <a:xfrm>
            <a:off x="1051560" y="2926080"/>
            <a:ext cx="1261872" cy="1463040"/>
          </a:xfrm>
          <a:prstGeom prst="rect">
            <a:avLst/>
          </a:prstGeom>
          <a:noFill/>
        </p:spPr>
        <p:txBody>
          <a:bodyPr wrap="square" lIns="0" tIns="0" rIns="0" bIns="0">
            <a:spAutoFit/>
          </a:bodyPr>
          <a:lstStyle/>
          <a:p>
            <a:pPr>
              <a:defRPr sz="1400" b="1">
                <a:solidFill>
                  <a:srgbClr val="F8FAFC"/>
                </a:solidFill>
                <a:latin typeface="Segoe UI"/>
              </a:defRPr>
            </a:pPr>
            <a:r>
              <a:t>CAMERA</a:t>
            </a:r>
          </a:p>
          <a:p>
            <a:pPr>
              <a:defRPr sz="1200" b="1">
                <a:solidFill>
                  <a:srgbClr val="F8FAFC"/>
                </a:solidFill>
                <a:latin typeface="Segoe UI"/>
              </a:defRPr>
            </a:pPr>
            <a:r>
              <a:t>Capture scene</a:t>
            </a:r>
          </a:p>
          <a:p>
            <a:pPr>
              <a:defRPr sz="1000">
                <a:solidFill>
                  <a:srgbClr val="94A3B8"/>
                </a:solidFill>
                <a:latin typeface="Segoe UI"/>
              </a:defRPr>
            </a:pPr>
            <a:r>
              <a:t>HTML5 Video Feed</a:t>
            </a:r>
          </a:p>
        </p:txBody>
      </p:sp>
      <p:sp>
        <p:nvSpPr>
          <p:cNvPr id="9" name="TextBox 8"/>
          <p:cNvSpPr txBox="1"/>
          <p:nvPr/>
        </p:nvSpPr>
        <p:spPr>
          <a:xfrm>
            <a:off x="2450592" y="3291840"/>
            <a:ext cx="201168" cy="457200"/>
          </a:xfrm>
          <a:prstGeom prst="rect">
            <a:avLst/>
          </a:prstGeom>
          <a:noFill/>
        </p:spPr>
        <p:txBody>
          <a:bodyPr wrap="none" lIns="0" tIns="0" rIns="0" bIns="0">
            <a:spAutoFit/>
          </a:bodyPr>
          <a:lstStyle/>
          <a:p>
            <a:pPr algn="ctr">
              <a:defRPr sz="1600">
                <a:solidFill>
                  <a:srgbClr val="475569"/>
                </a:solidFill>
                <a:latin typeface="Segoe UI"/>
              </a:defRPr>
            </a:pPr>
            <a:r>
              <a:t>→</a:t>
            </a:r>
          </a:p>
        </p:txBody>
      </p:sp>
      <p:sp>
        <p:nvSpPr>
          <p:cNvPr id="10" name="Rectangle 9"/>
          <p:cNvSpPr/>
          <p:nvPr/>
        </p:nvSpPr>
        <p:spPr>
          <a:xfrm>
            <a:off x="2651760" y="2377440"/>
            <a:ext cx="1536192" cy="219456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2514600"/>
            <a:ext cx="548640" cy="274320"/>
          </a:xfrm>
          <a:prstGeom prst="rect">
            <a:avLst/>
          </a:prstGeom>
          <a:noFill/>
        </p:spPr>
        <p:txBody>
          <a:bodyPr wrap="none" lIns="0" tIns="0" rIns="0" bIns="0">
            <a:spAutoFit/>
          </a:bodyPr>
          <a:lstStyle/>
          <a:p>
            <a:pPr>
              <a:defRPr sz="1100" b="1">
                <a:solidFill>
                  <a:srgbClr val="00E5FF"/>
                </a:solidFill>
                <a:latin typeface="Segoe UI"/>
              </a:defRPr>
            </a:pPr>
            <a:r>
              <a:t>02</a:t>
            </a:r>
          </a:p>
        </p:txBody>
      </p:sp>
      <p:sp>
        <p:nvSpPr>
          <p:cNvPr id="12" name="TextBox 11"/>
          <p:cNvSpPr txBox="1"/>
          <p:nvPr/>
        </p:nvSpPr>
        <p:spPr>
          <a:xfrm>
            <a:off x="2788920" y="2926080"/>
            <a:ext cx="1261872" cy="1463040"/>
          </a:xfrm>
          <a:prstGeom prst="rect">
            <a:avLst/>
          </a:prstGeom>
          <a:noFill/>
        </p:spPr>
        <p:txBody>
          <a:bodyPr wrap="square" lIns="0" tIns="0" rIns="0" bIns="0">
            <a:spAutoFit/>
          </a:bodyPr>
          <a:lstStyle/>
          <a:p>
            <a:pPr>
              <a:defRPr sz="1400" b="1">
                <a:solidFill>
                  <a:srgbClr val="00E5FF"/>
                </a:solidFill>
                <a:latin typeface="Segoe UI"/>
              </a:defRPr>
            </a:pPr>
            <a:r>
              <a:t>AI DETECTION</a:t>
            </a:r>
          </a:p>
          <a:p>
            <a:pPr>
              <a:defRPr sz="1200" b="1">
                <a:solidFill>
                  <a:srgbClr val="F8FAFC"/>
                </a:solidFill>
                <a:latin typeface="Segoe UI"/>
              </a:defRPr>
            </a:pPr>
            <a:r>
              <a:t>YOLO11n ONNX</a:t>
            </a:r>
          </a:p>
          <a:p>
            <a:pPr>
              <a:defRPr sz="1000">
                <a:solidFill>
                  <a:srgbClr val="94A3B8"/>
                </a:solidFill>
                <a:latin typeface="Segoe UI"/>
              </a:defRPr>
            </a:pPr>
            <a:r>
              <a:t>ONNX Runtime Web</a:t>
            </a:r>
          </a:p>
        </p:txBody>
      </p:sp>
      <p:sp>
        <p:nvSpPr>
          <p:cNvPr id="13" name="TextBox 12"/>
          <p:cNvSpPr txBox="1"/>
          <p:nvPr/>
        </p:nvSpPr>
        <p:spPr>
          <a:xfrm>
            <a:off x="4187952" y="3291840"/>
            <a:ext cx="201168" cy="457200"/>
          </a:xfrm>
          <a:prstGeom prst="rect">
            <a:avLst/>
          </a:prstGeom>
          <a:noFill/>
        </p:spPr>
        <p:txBody>
          <a:bodyPr wrap="none" lIns="0" tIns="0" rIns="0" bIns="0">
            <a:spAutoFit/>
          </a:bodyPr>
          <a:lstStyle/>
          <a:p>
            <a:pPr algn="ctr">
              <a:defRPr sz="1600">
                <a:solidFill>
                  <a:srgbClr val="475569"/>
                </a:solidFill>
                <a:latin typeface="Segoe UI"/>
              </a:defRPr>
            </a:pPr>
            <a:r>
              <a:t>→</a:t>
            </a:r>
          </a:p>
        </p:txBody>
      </p:sp>
      <p:sp>
        <p:nvSpPr>
          <p:cNvPr id="14" name="Rectangle 13"/>
          <p:cNvSpPr/>
          <p:nvPr/>
        </p:nvSpPr>
        <p:spPr>
          <a:xfrm>
            <a:off x="4389120" y="2377440"/>
            <a:ext cx="1536192" cy="219456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514600"/>
            <a:ext cx="548640" cy="274320"/>
          </a:xfrm>
          <a:prstGeom prst="rect">
            <a:avLst/>
          </a:prstGeom>
          <a:noFill/>
        </p:spPr>
        <p:txBody>
          <a:bodyPr wrap="none" lIns="0" tIns="0" rIns="0" bIns="0">
            <a:spAutoFit/>
          </a:bodyPr>
          <a:lstStyle/>
          <a:p>
            <a:pPr>
              <a:defRPr sz="1100" b="1">
                <a:solidFill>
                  <a:srgbClr val="00E5FF"/>
                </a:solidFill>
                <a:latin typeface="Segoe UI"/>
              </a:defRPr>
            </a:pPr>
            <a:r>
              <a:t>03</a:t>
            </a:r>
          </a:p>
        </p:txBody>
      </p:sp>
      <p:sp>
        <p:nvSpPr>
          <p:cNvPr id="16" name="TextBox 15"/>
          <p:cNvSpPr txBox="1"/>
          <p:nvPr/>
        </p:nvSpPr>
        <p:spPr>
          <a:xfrm>
            <a:off x="4526280" y="2926080"/>
            <a:ext cx="1261872" cy="1463040"/>
          </a:xfrm>
          <a:prstGeom prst="rect">
            <a:avLst/>
          </a:prstGeom>
          <a:noFill/>
        </p:spPr>
        <p:txBody>
          <a:bodyPr wrap="square" lIns="0" tIns="0" rIns="0" bIns="0">
            <a:spAutoFit/>
          </a:bodyPr>
          <a:lstStyle/>
          <a:p>
            <a:pPr>
              <a:defRPr sz="1400" b="1">
                <a:solidFill>
                  <a:srgbClr val="00E5FF"/>
                </a:solidFill>
                <a:latin typeface="Segoe UI"/>
              </a:defRPr>
            </a:pPr>
            <a:r>
              <a:t>SPATIAL RULE</a:t>
            </a:r>
          </a:p>
          <a:p>
            <a:pPr>
              <a:defRPr sz="1200" b="1">
                <a:solidFill>
                  <a:srgbClr val="F8FAFC"/>
                </a:solidFill>
                <a:latin typeface="Segoe UI"/>
              </a:defRPr>
            </a:pPr>
            <a:r>
              <a:t>Bounding-box geometry</a:t>
            </a:r>
          </a:p>
          <a:p>
            <a:pPr>
              <a:defRPr sz="1000">
                <a:solidFill>
                  <a:srgbClr val="94A3B8"/>
                </a:solidFill>
                <a:latin typeface="Segoe UI"/>
              </a:defRPr>
            </a:pPr>
            <a:r>
              <a:t>Overlap &amp; Clearances</a:t>
            </a:r>
          </a:p>
        </p:txBody>
      </p:sp>
      <p:sp>
        <p:nvSpPr>
          <p:cNvPr id="17" name="TextBox 16"/>
          <p:cNvSpPr txBox="1"/>
          <p:nvPr/>
        </p:nvSpPr>
        <p:spPr>
          <a:xfrm>
            <a:off x="5925312" y="3291840"/>
            <a:ext cx="201168" cy="457200"/>
          </a:xfrm>
          <a:prstGeom prst="rect">
            <a:avLst/>
          </a:prstGeom>
          <a:noFill/>
        </p:spPr>
        <p:txBody>
          <a:bodyPr wrap="none" lIns="0" tIns="0" rIns="0" bIns="0">
            <a:spAutoFit/>
          </a:bodyPr>
          <a:lstStyle/>
          <a:p>
            <a:pPr algn="ctr">
              <a:defRPr sz="1600">
                <a:solidFill>
                  <a:srgbClr val="475569"/>
                </a:solidFill>
                <a:latin typeface="Segoe UI"/>
              </a:defRPr>
            </a:pPr>
            <a:r>
              <a:t>→</a:t>
            </a:r>
          </a:p>
        </p:txBody>
      </p:sp>
      <p:sp>
        <p:nvSpPr>
          <p:cNvPr id="18" name="Rectangle 17"/>
          <p:cNvSpPr/>
          <p:nvPr/>
        </p:nvSpPr>
        <p:spPr>
          <a:xfrm>
            <a:off x="6126480" y="2377440"/>
            <a:ext cx="1536192" cy="219456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2514600"/>
            <a:ext cx="548640" cy="274320"/>
          </a:xfrm>
          <a:prstGeom prst="rect">
            <a:avLst/>
          </a:prstGeom>
          <a:noFill/>
        </p:spPr>
        <p:txBody>
          <a:bodyPr wrap="none" lIns="0" tIns="0" rIns="0" bIns="0">
            <a:spAutoFit/>
          </a:bodyPr>
          <a:lstStyle/>
          <a:p>
            <a:pPr>
              <a:defRPr sz="1100" b="1">
                <a:solidFill>
                  <a:srgbClr val="00E5FF"/>
                </a:solidFill>
                <a:latin typeface="Segoe UI"/>
              </a:defRPr>
            </a:pPr>
            <a:r>
              <a:t>04</a:t>
            </a:r>
          </a:p>
        </p:txBody>
      </p:sp>
      <p:sp>
        <p:nvSpPr>
          <p:cNvPr id="20" name="TextBox 19"/>
          <p:cNvSpPr txBox="1"/>
          <p:nvPr/>
        </p:nvSpPr>
        <p:spPr>
          <a:xfrm>
            <a:off x="6263640" y="2926080"/>
            <a:ext cx="1261872" cy="1463040"/>
          </a:xfrm>
          <a:prstGeom prst="rect">
            <a:avLst/>
          </a:prstGeom>
          <a:noFill/>
        </p:spPr>
        <p:txBody>
          <a:bodyPr wrap="square" lIns="0" tIns="0" rIns="0" bIns="0">
            <a:spAutoFit/>
          </a:bodyPr>
          <a:lstStyle/>
          <a:p>
            <a:pPr>
              <a:defRPr sz="1400" b="1">
                <a:solidFill>
                  <a:srgbClr val="10B981"/>
                </a:solidFill>
                <a:latin typeface="Segoe UI"/>
              </a:defRPr>
            </a:pPr>
            <a:r>
              <a:t>VERDICT</a:t>
            </a:r>
          </a:p>
          <a:p>
            <a:pPr>
              <a:defRPr sz="1200" b="1">
                <a:solidFill>
                  <a:srgbClr val="F8FAFC"/>
                </a:solidFill>
                <a:latin typeface="Segoe UI"/>
              </a:defRPr>
            </a:pPr>
            <a:r>
              <a:t>Explain why</a:t>
            </a:r>
          </a:p>
          <a:p>
            <a:pPr>
              <a:defRPr sz="1000">
                <a:solidFill>
                  <a:srgbClr val="94A3B8"/>
                </a:solidFill>
                <a:latin typeface="Segoe UI"/>
              </a:defRPr>
            </a:pPr>
            <a:r>
              <a:t>Pass, Issue, Review</a:t>
            </a:r>
          </a:p>
        </p:txBody>
      </p:sp>
      <p:sp>
        <p:nvSpPr>
          <p:cNvPr id="21" name="TextBox 20"/>
          <p:cNvSpPr txBox="1"/>
          <p:nvPr/>
        </p:nvSpPr>
        <p:spPr>
          <a:xfrm>
            <a:off x="7662672" y="3291840"/>
            <a:ext cx="201168" cy="457200"/>
          </a:xfrm>
          <a:prstGeom prst="rect">
            <a:avLst/>
          </a:prstGeom>
          <a:noFill/>
        </p:spPr>
        <p:txBody>
          <a:bodyPr wrap="none" lIns="0" tIns="0" rIns="0" bIns="0">
            <a:spAutoFit/>
          </a:bodyPr>
          <a:lstStyle/>
          <a:p>
            <a:pPr algn="ctr">
              <a:defRPr sz="1600">
                <a:solidFill>
                  <a:srgbClr val="475569"/>
                </a:solidFill>
                <a:latin typeface="Segoe UI"/>
              </a:defRPr>
            </a:pPr>
            <a:r>
              <a:t>→</a:t>
            </a:r>
          </a:p>
        </p:txBody>
      </p:sp>
      <p:sp>
        <p:nvSpPr>
          <p:cNvPr id="22" name="Rectangle 21"/>
          <p:cNvSpPr/>
          <p:nvPr/>
        </p:nvSpPr>
        <p:spPr>
          <a:xfrm>
            <a:off x="7863840" y="2377440"/>
            <a:ext cx="1536192" cy="219456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01000" y="2514600"/>
            <a:ext cx="548640" cy="274320"/>
          </a:xfrm>
          <a:prstGeom prst="rect">
            <a:avLst/>
          </a:prstGeom>
          <a:noFill/>
        </p:spPr>
        <p:txBody>
          <a:bodyPr wrap="none" lIns="0" tIns="0" rIns="0" bIns="0">
            <a:spAutoFit/>
          </a:bodyPr>
          <a:lstStyle/>
          <a:p>
            <a:pPr>
              <a:defRPr sz="1100" b="1">
                <a:solidFill>
                  <a:srgbClr val="00E5FF"/>
                </a:solidFill>
                <a:latin typeface="Segoe UI"/>
              </a:defRPr>
            </a:pPr>
            <a:r>
              <a:t>05</a:t>
            </a:r>
          </a:p>
        </p:txBody>
      </p:sp>
      <p:sp>
        <p:nvSpPr>
          <p:cNvPr id="24" name="TextBox 23"/>
          <p:cNvSpPr txBox="1"/>
          <p:nvPr/>
        </p:nvSpPr>
        <p:spPr>
          <a:xfrm>
            <a:off x="8001000" y="2926080"/>
            <a:ext cx="1261872" cy="1463040"/>
          </a:xfrm>
          <a:prstGeom prst="rect">
            <a:avLst/>
          </a:prstGeom>
          <a:noFill/>
        </p:spPr>
        <p:txBody>
          <a:bodyPr wrap="square" lIns="0" tIns="0" rIns="0" bIns="0">
            <a:spAutoFit/>
          </a:bodyPr>
          <a:lstStyle/>
          <a:p>
            <a:pPr>
              <a:defRPr sz="1400" b="1">
                <a:solidFill>
                  <a:srgbClr val="10B981"/>
                </a:solidFill>
                <a:latin typeface="Segoe UI"/>
              </a:defRPr>
            </a:pPr>
            <a:r>
              <a:t>RESCAN</a:t>
            </a:r>
          </a:p>
          <a:p>
            <a:pPr>
              <a:defRPr sz="1200" b="1">
                <a:solidFill>
                  <a:srgbClr val="F8FAFC"/>
                </a:solidFill>
                <a:latin typeface="Segoe UI"/>
              </a:defRPr>
            </a:pPr>
            <a:r>
              <a:t>Verify correction</a:t>
            </a:r>
          </a:p>
          <a:p>
            <a:pPr>
              <a:defRPr sz="1000">
                <a:solidFill>
                  <a:srgbClr val="94A3B8"/>
                </a:solidFill>
                <a:latin typeface="Segoe UI"/>
              </a:defRPr>
            </a:pPr>
            <a:r>
              <a:t>Closed-Loop Evidence</a:t>
            </a:r>
          </a:p>
        </p:txBody>
      </p:sp>
      <p:sp>
        <p:nvSpPr>
          <p:cNvPr id="25" name="TextBox 24"/>
          <p:cNvSpPr txBox="1"/>
          <p:nvPr/>
        </p:nvSpPr>
        <p:spPr>
          <a:xfrm>
            <a:off x="9400032" y="3291840"/>
            <a:ext cx="201168" cy="457200"/>
          </a:xfrm>
          <a:prstGeom prst="rect">
            <a:avLst/>
          </a:prstGeom>
          <a:noFill/>
        </p:spPr>
        <p:txBody>
          <a:bodyPr wrap="none" lIns="0" tIns="0" rIns="0" bIns="0">
            <a:spAutoFit/>
          </a:bodyPr>
          <a:lstStyle/>
          <a:p>
            <a:pPr algn="ctr">
              <a:defRPr sz="1600">
                <a:solidFill>
                  <a:srgbClr val="475569"/>
                </a:solidFill>
                <a:latin typeface="Segoe UI"/>
              </a:defRPr>
            </a:pPr>
            <a:r>
              <a:t>→</a:t>
            </a:r>
          </a:p>
        </p:txBody>
      </p:sp>
      <p:sp>
        <p:nvSpPr>
          <p:cNvPr id="26" name="Rectangle 25"/>
          <p:cNvSpPr/>
          <p:nvPr/>
        </p:nvSpPr>
        <p:spPr>
          <a:xfrm>
            <a:off x="9601200" y="2377440"/>
            <a:ext cx="1536192" cy="219456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38360" y="2514600"/>
            <a:ext cx="548640" cy="274320"/>
          </a:xfrm>
          <a:prstGeom prst="rect">
            <a:avLst/>
          </a:prstGeom>
          <a:noFill/>
        </p:spPr>
        <p:txBody>
          <a:bodyPr wrap="none" lIns="0" tIns="0" rIns="0" bIns="0">
            <a:spAutoFit/>
          </a:bodyPr>
          <a:lstStyle/>
          <a:p>
            <a:pPr>
              <a:defRPr sz="1100" b="1">
                <a:solidFill>
                  <a:srgbClr val="00E5FF"/>
                </a:solidFill>
                <a:latin typeface="Segoe UI"/>
              </a:defRPr>
            </a:pPr>
            <a:r>
              <a:t>06</a:t>
            </a:r>
          </a:p>
        </p:txBody>
      </p:sp>
      <p:sp>
        <p:nvSpPr>
          <p:cNvPr id="28" name="TextBox 27"/>
          <p:cNvSpPr txBox="1"/>
          <p:nvPr/>
        </p:nvSpPr>
        <p:spPr>
          <a:xfrm>
            <a:off x="9738360" y="2926080"/>
            <a:ext cx="1261872" cy="1463040"/>
          </a:xfrm>
          <a:prstGeom prst="rect">
            <a:avLst/>
          </a:prstGeom>
          <a:noFill/>
        </p:spPr>
        <p:txBody>
          <a:bodyPr wrap="square" lIns="0" tIns="0" rIns="0" bIns="0">
            <a:spAutoFit/>
          </a:bodyPr>
          <a:lstStyle/>
          <a:p>
            <a:pPr>
              <a:defRPr sz="1400" b="1">
                <a:solidFill>
                  <a:srgbClr val="F8FAFC"/>
                </a:solidFill>
                <a:latin typeface="Segoe UI"/>
              </a:defRPr>
            </a:pPr>
            <a:r>
              <a:t>REPORT</a:t>
            </a:r>
          </a:p>
          <a:p>
            <a:pPr>
              <a:defRPr sz="1200" b="1">
                <a:solidFill>
                  <a:srgbClr val="F8FAFC"/>
                </a:solidFill>
                <a:latin typeface="Segoe UI"/>
              </a:defRPr>
            </a:pPr>
            <a:r>
              <a:t>Structured record</a:t>
            </a:r>
          </a:p>
          <a:p>
            <a:pPr>
              <a:defRPr sz="1000">
                <a:solidFill>
                  <a:srgbClr val="94A3B8"/>
                </a:solidFill>
                <a:latin typeface="Segoe UI"/>
              </a:defRPr>
            </a:pPr>
            <a:r>
              <a:t>Portable JSON Audit</a:t>
            </a:r>
          </a:p>
        </p:txBody>
      </p:sp>
      <p:sp>
        <p:nvSpPr>
          <p:cNvPr id="29" name="TextBox 28"/>
          <p:cNvSpPr txBox="1"/>
          <p:nvPr/>
        </p:nvSpPr>
        <p:spPr>
          <a:xfrm>
            <a:off x="914400" y="5120640"/>
            <a:ext cx="10363199" cy="457200"/>
          </a:xfrm>
          <a:prstGeom prst="rect">
            <a:avLst/>
          </a:prstGeom>
          <a:noFill/>
        </p:spPr>
        <p:txBody>
          <a:bodyPr wrap="square" lIns="0" tIns="0" rIns="0" bIns="0">
            <a:spAutoFit/>
          </a:bodyPr>
          <a:lstStyle/>
          <a:p>
            <a:pPr algn="ctr">
              <a:defRPr sz="1200">
                <a:solidFill>
                  <a:srgbClr val="94A3B8"/>
                </a:solidFill>
                <a:latin typeface="Segoe UI"/>
              </a:defRPr>
            </a:pPr>
            <a:r>
              <a:t>Camera frames are processed locally in the browser; they are not transmitted to external servers.</a:t>
            </a:r>
          </a:p>
        </p:txBody>
      </p:sp>
      <p:sp>
        <p:nvSpPr>
          <p:cNvPr id="30" name="Rectangle 29"/>
          <p:cNvSpPr/>
          <p:nvPr/>
        </p:nvSpPr>
        <p:spPr>
          <a:xfrm>
            <a:off x="914400" y="6263640"/>
            <a:ext cx="10363199"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6327648"/>
            <a:ext cx="5067299" cy="274320"/>
          </a:xfrm>
          <a:prstGeom prst="rect">
            <a:avLst/>
          </a:prstGeom>
          <a:noFill/>
        </p:spPr>
        <p:txBody>
          <a:bodyPr wrap="none" lIns="0" tIns="0" rIns="0" bIns="0">
            <a:spAutoFit/>
          </a:bodyPr>
          <a:lstStyle/>
          <a:p>
            <a:pPr>
              <a:defRPr sz="950">
                <a:solidFill>
                  <a:srgbClr val="475569"/>
                </a:solidFill>
                <a:latin typeface="Segoe UI"/>
              </a:defRPr>
            </a:pPr>
            <a:r>
              <a:t>VERIFYX  ·  AI VISUAL VERIFICATION ENGINE</a:t>
            </a:r>
          </a:p>
        </p:txBody>
      </p:sp>
      <p:sp>
        <p:nvSpPr>
          <p:cNvPr id="32" name="TextBox 31"/>
          <p:cNvSpPr txBox="1"/>
          <p:nvPr/>
        </p:nvSpPr>
        <p:spPr>
          <a:xfrm>
            <a:off x="6210299" y="6327648"/>
            <a:ext cx="5067299" cy="274320"/>
          </a:xfrm>
          <a:prstGeom prst="rect">
            <a:avLst/>
          </a:prstGeom>
          <a:noFill/>
        </p:spPr>
        <p:txBody>
          <a:bodyPr wrap="none" lIns="0" tIns="0" rIns="0" bIns="0">
            <a:spAutoFit/>
          </a:bodyPr>
          <a:lstStyle/>
          <a:p>
            <a:pPr algn="r">
              <a:defRPr sz="950">
                <a:solidFill>
                  <a:srgbClr val="475569"/>
                </a:solidFill>
                <a:latin typeface="Segoe UI"/>
              </a:defRPr>
            </a:pPr>
            <a:r>
              <a:t>verifyx-gray.vercel.app  ·  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63199" cy="256032"/>
          </a:xfrm>
          <a:prstGeom prst="rect">
            <a:avLst/>
          </a:prstGeom>
          <a:noFill/>
        </p:spPr>
        <p:txBody>
          <a:bodyPr wrap="none" lIns="0" tIns="0" rIns="0" bIns="0">
            <a:spAutoFit/>
          </a:bodyPr>
          <a:lstStyle/>
          <a:p>
            <a:pPr>
              <a:defRPr sz="1100" b="1">
                <a:solidFill>
                  <a:srgbClr val="00E5FF"/>
                </a:solidFill>
                <a:latin typeface="Segoe UI"/>
              </a:defRPr>
            </a:pPr>
            <a:r>
              <a:t>CLOSED-LOOP VERIFICATION</a:t>
            </a:r>
          </a:p>
        </p:txBody>
      </p:sp>
      <p:sp>
        <p:nvSpPr>
          <p:cNvPr id="4" name="TextBox 3"/>
          <p:cNvSpPr txBox="1"/>
          <p:nvPr/>
        </p:nvSpPr>
        <p:spPr>
          <a:xfrm>
            <a:off x="914400" y="896112"/>
            <a:ext cx="10363199" cy="594360"/>
          </a:xfrm>
          <a:prstGeom prst="rect">
            <a:avLst/>
          </a:prstGeom>
          <a:noFill/>
        </p:spPr>
        <p:txBody>
          <a:bodyPr wrap="square" lIns="0" tIns="0" rIns="0" bIns="0">
            <a:spAutoFit/>
          </a:bodyPr>
          <a:lstStyle/>
          <a:p>
            <a:pPr>
              <a:defRPr sz="3200" b="1">
                <a:solidFill>
                  <a:srgbClr val="F8FAFC"/>
                </a:solidFill>
                <a:latin typeface="Segoe UI"/>
              </a:defRPr>
            </a:pPr>
            <a:r>
              <a:t>SEE IT. FIX IT. VERIFY IT.</a:t>
            </a:r>
          </a:p>
        </p:txBody>
      </p:sp>
      <p:sp>
        <p:nvSpPr>
          <p:cNvPr id="5" name="TextBox 4"/>
          <p:cNvSpPr txBox="1"/>
          <p:nvPr/>
        </p:nvSpPr>
        <p:spPr>
          <a:xfrm>
            <a:off x="914400" y="1536192"/>
            <a:ext cx="10363199" cy="320040"/>
          </a:xfrm>
          <a:prstGeom prst="rect">
            <a:avLst/>
          </a:prstGeom>
          <a:noFill/>
        </p:spPr>
        <p:txBody>
          <a:bodyPr wrap="square" lIns="0" tIns="0" rIns="0" bIns="0">
            <a:spAutoFit/>
          </a:bodyPr>
          <a:lstStyle/>
          <a:p>
            <a:pPr>
              <a:defRPr sz="1400" b="0">
                <a:solidFill>
                  <a:srgbClr val="94A3B8"/>
                </a:solidFill>
                <a:latin typeface="Segoe UI"/>
              </a:defRPr>
            </a:pPr>
            <a:r>
              <a:t>Actual dataset detection evidence compared against clearance verification.</a:t>
            </a:r>
          </a:p>
        </p:txBody>
      </p:sp>
      <p:sp>
        <p:nvSpPr>
          <p:cNvPr id="6" name="TextBox 5"/>
          <p:cNvSpPr txBox="1"/>
          <p:nvPr/>
        </p:nvSpPr>
        <p:spPr>
          <a:xfrm>
            <a:off x="1797049" y="2011680"/>
            <a:ext cx="4184649" cy="320040"/>
          </a:xfrm>
          <a:prstGeom prst="rect">
            <a:avLst/>
          </a:prstGeom>
          <a:noFill/>
        </p:spPr>
        <p:txBody>
          <a:bodyPr wrap="none" lIns="0" tIns="0" rIns="0" bIns="0">
            <a:spAutoFit/>
          </a:bodyPr>
          <a:lstStyle/>
          <a:p>
            <a:pPr>
              <a:defRPr sz="1300" b="1">
                <a:solidFill>
                  <a:srgbClr val="EF4444"/>
                </a:solidFill>
                <a:latin typeface="Segoe UI"/>
              </a:defRPr>
            </a:pPr>
            <a:r>
              <a:t>BEFORE  ·  OBSTRUCTION DETECTED</a:t>
            </a:r>
          </a:p>
        </p:txBody>
      </p:sp>
      <p:pic>
        <p:nvPicPr>
          <p:cNvPr id="7" name="Picture 6" descr="slide6_before_box_clean.jpg"/>
          <p:cNvPicPr>
            <a:picLocks noChangeAspect="1"/>
          </p:cNvPicPr>
          <p:nvPr/>
        </p:nvPicPr>
        <p:blipFill>
          <a:blip r:embed="rId2"/>
          <a:stretch>
            <a:fillRect/>
          </a:stretch>
        </p:blipFill>
        <p:spPr>
          <a:xfrm>
            <a:off x="1797049" y="2377440"/>
            <a:ext cx="3291840" cy="3291840"/>
          </a:xfrm>
          <a:prstGeom prst="rect">
            <a:avLst/>
          </a:prstGeom>
        </p:spPr>
      </p:pic>
      <p:sp>
        <p:nvSpPr>
          <p:cNvPr id="8" name="TextBox 7"/>
          <p:cNvSpPr txBox="1"/>
          <p:nvPr/>
        </p:nvSpPr>
        <p:spPr>
          <a:xfrm>
            <a:off x="7092949" y="2011680"/>
            <a:ext cx="4184649" cy="320040"/>
          </a:xfrm>
          <a:prstGeom prst="rect">
            <a:avLst/>
          </a:prstGeom>
          <a:noFill/>
        </p:spPr>
        <p:txBody>
          <a:bodyPr wrap="none" lIns="0" tIns="0" rIns="0" bIns="0">
            <a:spAutoFit/>
          </a:bodyPr>
          <a:lstStyle/>
          <a:p>
            <a:pPr>
              <a:defRPr sz="1300" b="1">
                <a:solidFill>
                  <a:srgbClr val="10B981"/>
                </a:solidFill>
                <a:latin typeface="Segoe UI"/>
              </a:defRPr>
            </a:pPr>
            <a:r>
              <a:t>AFTER  ·  RESCAN VERIFIED</a:t>
            </a:r>
          </a:p>
        </p:txBody>
      </p:sp>
      <p:pic>
        <p:nvPicPr>
          <p:cNvPr id="9" name="Picture 8" descr="slide6_after_corridor_clean.jpg"/>
          <p:cNvPicPr>
            <a:picLocks noChangeAspect="1"/>
          </p:cNvPicPr>
          <p:nvPr/>
        </p:nvPicPr>
        <p:blipFill>
          <a:blip r:embed="rId3"/>
          <a:stretch>
            <a:fillRect/>
          </a:stretch>
        </p:blipFill>
        <p:spPr>
          <a:xfrm>
            <a:off x="7092949" y="2377440"/>
            <a:ext cx="3291840" cy="3291840"/>
          </a:xfrm>
          <a:prstGeom prst="rect">
            <a:avLst/>
          </a:prstGeom>
        </p:spPr>
      </p:pic>
      <p:sp>
        <p:nvSpPr>
          <p:cNvPr id="10" name="TextBox 9"/>
          <p:cNvSpPr txBox="1"/>
          <p:nvPr/>
        </p:nvSpPr>
        <p:spPr>
          <a:xfrm>
            <a:off x="5601969" y="3657600"/>
            <a:ext cx="914400" cy="548640"/>
          </a:xfrm>
          <a:prstGeom prst="rect">
            <a:avLst/>
          </a:prstGeom>
          <a:noFill/>
        </p:spPr>
        <p:txBody>
          <a:bodyPr wrap="none" lIns="0" tIns="0" rIns="0" bIns="0">
            <a:spAutoFit/>
          </a:bodyPr>
          <a:lstStyle/>
          <a:p>
            <a:pPr algn="ctr">
              <a:defRPr sz="3600" b="1">
                <a:solidFill>
                  <a:srgbClr val="94A3B8"/>
                </a:solidFill>
                <a:latin typeface="Segoe UI"/>
              </a:defRPr>
            </a:pPr>
            <a:r>
              <a:t>→</a:t>
            </a:r>
          </a:p>
        </p:txBody>
      </p:sp>
      <p:sp>
        <p:nvSpPr>
          <p:cNvPr id="11" name="TextBox 10"/>
          <p:cNvSpPr txBox="1"/>
          <p:nvPr/>
        </p:nvSpPr>
        <p:spPr>
          <a:xfrm>
            <a:off x="2679699" y="5760720"/>
            <a:ext cx="6832599" cy="365760"/>
          </a:xfrm>
          <a:prstGeom prst="rect">
            <a:avLst/>
          </a:prstGeom>
          <a:noFill/>
        </p:spPr>
        <p:txBody>
          <a:bodyPr wrap="square" lIns="0" tIns="0" rIns="0" bIns="0">
            <a:spAutoFit/>
          </a:bodyPr>
          <a:lstStyle/>
          <a:p>
            <a:pPr algn="ctr">
              <a:defRPr sz="1500" b="1">
                <a:solidFill>
                  <a:srgbClr val="F8FAFC"/>
                </a:solidFill>
                <a:latin typeface="Segoe UI"/>
              </a:defRPr>
            </a:pPr>
            <a:r>
              <a:t>POSSIBLE OBSTRUCTION  →  CLEARANCE VERIFIED</a:t>
            </a:r>
          </a:p>
        </p:txBody>
      </p:sp>
      <p:sp>
        <p:nvSpPr>
          <p:cNvPr id="12" name="Rectangle 11"/>
          <p:cNvSpPr/>
          <p:nvPr/>
        </p:nvSpPr>
        <p:spPr>
          <a:xfrm>
            <a:off x="914400" y="6263640"/>
            <a:ext cx="10363199"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6327648"/>
            <a:ext cx="5067299" cy="274320"/>
          </a:xfrm>
          <a:prstGeom prst="rect">
            <a:avLst/>
          </a:prstGeom>
          <a:noFill/>
        </p:spPr>
        <p:txBody>
          <a:bodyPr wrap="none" lIns="0" tIns="0" rIns="0" bIns="0">
            <a:spAutoFit/>
          </a:bodyPr>
          <a:lstStyle/>
          <a:p>
            <a:pPr>
              <a:defRPr sz="950">
                <a:solidFill>
                  <a:srgbClr val="475569"/>
                </a:solidFill>
                <a:latin typeface="Segoe UI"/>
              </a:defRPr>
            </a:pPr>
            <a:r>
              <a:t>VERIFYX  ·  AI VISUAL VERIFICATION ENGINE</a:t>
            </a:r>
          </a:p>
        </p:txBody>
      </p:sp>
      <p:sp>
        <p:nvSpPr>
          <p:cNvPr id="14" name="TextBox 13"/>
          <p:cNvSpPr txBox="1"/>
          <p:nvPr/>
        </p:nvSpPr>
        <p:spPr>
          <a:xfrm>
            <a:off x="6210299" y="6327648"/>
            <a:ext cx="5067299" cy="274320"/>
          </a:xfrm>
          <a:prstGeom prst="rect">
            <a:avLst/>
          </a:prstGeom>
          <a:noFill/>
        </p:spPr>
        <p:txBody>
          <a:bodyPr wrap="none" lIns="0" tIns="0" rIns="0" bIns="0">
            <a:spAutoFit/>
          </a:bodyPr>
          <a:lstStyle/>
          <a:p>
            <a:pPr algn="r">
              <a:defRPr sz="950">
                <a:solidFill>
                  <a:srgbClr val="475569"/>
                </a:solidFill>
                <a:latin typeface="Segoe UI"/>
              </a:defRPr>
            </a:pPr>
            <a:r>
              <a:t>verifyx-gray.vercel.app  ·  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63199" cy="256032"/>
          </a:xfrm>
          <a:prstGeom prst="rect">
            <a:avLst/>
          </a:prstGeom>
          <a:noFill/>
        </p:spPr>
        <p:txBody>
          <a:bodyPr wrap="none" lIns="0" tIns="0" rIns="0" bIns="0">
            <a:spAutoFit/>
          </a:bodyPr>
          <a:lstStyle/>
          <a:p>
            <a:pPr>
              <a:defRPr sz="1100" b="1">
                <a:solidFill>
                  <a:srgbClr val="00E5FF"/>
                </a:solidFill>
                <a:latin typeface="Segoe UI"/>
              </a:defRPr>
            </a:pPr>
            <a:r>
              <a:t>COMPETITIVE ADVANTAGE</a:t>
            </a:r>
          </a:p>
        </p:txBody>
      </p:sp>
      <p:sp>
        <p:nvSpPr>
          <p:cNvPr id="4" name="TextBox 3"/>
          <p:cNvSpPr txBox="1"/>
          <p:nvPr/>
        </p:nvSpPr>
        <p:spPr>
          <a:xfrm>
            <a:off x="914400" y="896112"/>
            <a:ext cx="10363199" cy="594360"/>
          </a:xfrm>
          <a:prstGeom prst="rect">
            <a:avLst/>
          </a:prstGeom>
          <a:noFill/>
        </p:spPr>
        <p:txBody>
          <a:bodyPr wrap="square" lIns="0" tIns="0" rIns="0" bIns="0">
            <a:spAutoFit/>
          </a:bodyPr>
          <a:lstStyle/>
          <a:p>
            <a:pPr>
              <a:defRPr sz="3200" b="1">
                <a:solidFill>
                  <a:srgbClr val="F8FAFC"/>
                </a:solidFill>
                <a:latin typeface="Segoe UI"/>
              </a:defRPr>
            </a:pPr>
            <a:r>
              <a:t>NOT JUST A DETECTION.</a:t>
            </a:r>
          </a:p>
        </p:txBody>
      </p:sp>
      <p:sp>
        <p:nvSpPr>
          <p:cNvPr id="5" name="TextBox 4"/>
          <p:cNvSpPr txBox="1"/>
          <p:nvPr/>
        </p:nvSpPr>
        <p:spPr>
          <a:xfrm>
            <a:off x="914400" y="1536192"/>
            <a:ext cx="10363199" cy="320040"/>
          </a:xfrm>
          <a:prstGeom prst="rect">
            <a:avLst/>
          </a:prstGeom>
          <a:noFill/>
        </p:spPr>
        <p:txBody>
          <a:bodyPr wrap="square" lIns="0" tIns="0" rIns="0" bIns="0">
            <a:spAutoFit/>
          </a:bodyPr>
          <a:lstStyle/>
          <a:p>
            <a:pPr>
              <a:defRPr sz="1400" b="0">
                <a:solidFill>
                  <a:srgbClr val="94A3B8"/>
                </a:solidFill>
                <a:latin typeface="Segoe UI"/>
              </a:defRPr>
            </a:pPr>
            <a:r>
              <a:t>A fundamental shift from subjective observation to deterministic verification.</a:t>
            </a:r>
          </a:p>
        </p:txBody>
      </p:sp>
      <p:sp>
        <p:nvSpPr>
          <p:cNvPr id="6" name="Rectangle 5"/>
          <p:cNvSpPr/>
          <p:nvPr/>
        </p:nvSpPr>
        <p:spPr>
          <a:xfrm>
            <a:off x="914400" y="2103120"/>
            <a:ext cx="4890769" cy="3749039"/>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2423160"/>
            <a:ext cx="4159249" cy="3108959"/>
          </a:xfrm>
          <a:prstGeom prst="rect">
            <a:avLst/>
          </a:prstGeom>
          <a:noFill/>
        </p:spPr>
        <p:txBody>
          <a:bodyPr wrap="square" lIns="0" tIns="0" rIns="0" bIns="0">
            <a:spAutoFit/>
          </a:bodyPr>
          <a:lstStyle/>
          <a:p>
            <a:pPr>
              <a:defRPr sz="2000" b="1">
                <a:solidFill>
                  <a:srgbClr val="94A3B8"/>
                </a:solidFill>
                <a:latin typeface="Segoe UI"/>
              </a:defRPr>
            </a:pPr>
            <a:r>
              <a:t>TRADITIONAL</a:t>
            </a:r>
          </a:p>
          <a:p>
            <a:pPr>
              <a:spcBef>
                <a:spcPts val="1800"/>
              </a:spcBef>
              <a:defRPr sz="1500">
                <a:solidFill>
                  <a:srgbClr val="94A3B8"/>
                </a:solidFill>
                <a:latin typeface="Segoe UI"/>
              </a:defRPr>
            </a:pPr>
            <a:r>
              <a:t>✕  Human visual judgement</a:t>
            </a:r>
          </a:p>
          <a:p>
            <a:pPr>
              <a:spcBef>
                <a:spcPts val="1800"/>
              </a:spcBef>
              <a:defRPr sz="1500">
                <a:solidFill>
                  <a:srgbClr val="94A3B8"/>
                </a:solidFill>
                <a:latin typeface="Segoe UI"/>
              </a:defRPr>
            </a:pPr>
            <a:r>
              <a:t>✕  Subjective reasoning</a:t>
            </a:r>
          </a:p>
          <a:p>
            <a:pPr>
              <a:spcBef>
                <a:spcPts val="1800"/>
              </a:spcBef>
              <a:defRPr sz="1500">
                <a:solidFill>
                  <a:srgbClr val="94A3B8"/>
                </a:solidFill>
                <a:latin typeface="Segoe UI"/>
              </a:defRPr>
            </a:pPr>
            <a:r>
              <a:t>✕  Manual remediation</a:t>
            </a:r>
          </a:p>
          <a:p>
            <a:pPr>
              <a:spcBef>
                <a:spcPts val="1800"/>
              </a:spcBef>
              <a:defRPr sz="1500">
                <a:solidFill>
                  <a:srgbClr val="94A3B8"/>
                </a:solidFill>
                <a:latin typeface="Segoe UI"/>
              </a:defRPr>
            </a:pPr>
            <a:r>
              <a:t>✕  Fragmented evidence</a:t>
            </a:r>
          </a:p>
        </p:txBody>
      </p:sp>
      <p:sp>
        <p:nvSpPr>
          <p:cNvPr id="8" name="Rectangle 7"/>
          <p:cNvSpPr/>
          <p:nvPr/>
        </p:nvSpPr>
        <p:spPr>
          <a:xfrm>
            <a:off x="6386829" y="2103120"/>
            <a:ext cx="4890769" cy="3749039"/>
          </a:xfrm>
          <a:prstGeom prst="rect">
            <a:avLst/>
          </a:prstGeom>
          <a:solidFill>
            <a:srgbClr val="131B2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2589" y="2423160"/>
            <a:ext cx="4159249" cy="3108959"/>
          </a:xfrm>
          <a:prstGeom prst="rect">
            <a:avLst/>
          </a:prstGeom>
          <a:noFill/>
        </p:spPr>
        <p:txBody>
          <a:bodyPr wrap="square" lIns="0" tIns="0" rIns="0" bIns="0">
            <a:spAutoFit/>
          </a:bodyPr>
          <a:lstStyle/>
          <a:p>
            <a:pPr>
              <a:defRPr sz="2000" b="1">
                <a:solidFill>
                  <a:srgbClr val="00E5FF"/>
                </a:solidFill>
                <a:latin typeface="Segoe UI"/>
              </a:defRPr>
            </a:pPr>
            <a:r>
              <a:t>VERIFYX</a:t>
            </a:r>
          </a:p>
          <a:p>
            <a:pPr>
              <a:spcBef>
                <a:spcPts val="1800"/>
              </a:spcBef>
              <a:defRPr sz="1500" b="1">
                <a:solidFill>
                  <a:srgbClr val="F8FAFC"/>
                </a:solidFill>
                <a:latin typeface="Segoe UI"/>
              </a:defRPr>
            </a:pPr>
            <a:r>
              <a:t>✓  AI detection</a:t>
            </a:r>
          </a:p>
          <a:p>
            <a:pPr>
              <a:spcBef>
                <a:spcPts val="1800"/>
              </a:spcBef>
              <a:defRPr sz="1500" b="1">
                <a:solidFill>
                  <a:srgbClr val="F8FAFC"/>
                </a:solidFill>
                <a:latin typeface="Segoe UI"/>
              </a:defRPr>
            </a:pPr>
            <a:r>
              <a:t>✓  Spatial reasoning</a:t>
            </a:r>
          </a:p>
          <a:p>
            <a:pPr>
              <a:spcBef>
                <a:spcPts val="1800"/>
              </a:spcBef>
              <a:defRPr sz="1500" b="1">
                <a:solidFill>
                  <a:srgbClr val="F8FAFC"/>
                </a:solidFill>
                <a:latin typeface="Segoe UI"/>
              </a:defRPr>
            </a:pPr>
            <a:r>
              <a:t>✓  Before/After rescan</a:t>
            </a:r>
          </a:p>
          <a:p>
            <a:pPr>
              <a:spcBef>
                <a:spcPts val="1800"/>
              </a:spcBef>
              <a:defRPr sz="1500" b="1">
                <a:solidFill>
                  <a:srgbClr val="F8FAFC"/>
                </a:solidFill>
                <a:latin typeface="Segoe UI"/>
              </a:defRPr>
            </a:pPr>
            <a:r>
              <a:t>✓  Structured evidence</a:t>
            </a:r>
          </a:p>
        </p:txBody>
      </p:sp>
      <p:sp>
        <p:nvSpPr>
          <p:cNvPr id="10" name="Rectangle 9"/>
          <p:cNvSpPr/>
          <p:nvPr/>
        </p:nvSpPr>
        <p:spPr>
          <a:xfrm>
            <a:off x="914400" y="6263640"/>
            <a:ext cx="10363199"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6327648"/>
            <a:ext cx="5067299" cy="274320"/>
          </a:xfrm>
          <a:prstGeom prst="rect">
            <a:avLst/>
          </a:prstGeom>
          <a:noFill/>
        </p:spPr>
        <p:txBody>
          <a:bodyPr wrap="none" lIns="0" tIns="0" rIns="0" bIns="0">
            <a:spAutoFit/>
          </a:bodyPr>
          <a:lstStyle/>
          <a:p>
            <a:pPr>
              <a:defRPr sz="950">
                <a:solidFill>
                  <a:srgbClr val="475569"/>
                </a:solidFill>
                <a:latin typeface="Segoe UI"/>
              </a:defRPr>
            </a:pPr>
            <a:r>
              <a:t>VERIFYX  ·  AI VISUAL VERIFICATION ENGINE</a:t>
            </a:r>
          </a:p>
        </p:txBody>
      </p:sp>
      <p:sp>
        <p:nvSpPr>
          <p:cNvPr id="12" name="TextBox 11"/>
          <p:cNvSpPr txBox="1"/>
          <p:nvPr/>
        </p:nvSpPr>
        <p:spPr>
          <a:xfrm>
            <a:off x="6210299" y="6327648"/>
            <a:ext cx="5067299" cy="274320"/>
          </a:xfrm>
          <a:prstGeom prst="rect">
            <a:avLst/>
          </a:prstGeom>
          <a:noFill/>
        </p:spPr>
        <p:txBody>
          <a:bodyPr wrap="none" lIns="0" tIns="0" rIns="0" bIns="0">
            <a:spAutoFit/>
          </a:bodyPr>
          <a:lstStyle/>
          <a:p>
            <a:pPr algn="r">
              <a:defRPr sz="950">
                <a:solidFill>
                  <a:srgbClr val="475569"/>
                </a:solidFill>
                <a:latin typeface="Segoe UI"/>
              </a:defRPr>
            </a:pPr>
            <a:r>
              <a:t>verifyx-gray.vercel.app  ·  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63199" cy="256032"/>
          </a:xfrm>
          <a:prstGeom prst="rect">
            <a:avLst/>
          </a:prstGeom>
          <a:noFill/>
        </p:spPr>
        <p:txBody>
          <a:bodyPr wrap="none" lIns="0" tIns="0" rIns="0" bIns="0">
            <a:spAutoFit/>
          </a:bodyPr>
          <a:lstStyle/>
          <a:p>
            <a:pPr>
              <a:defRPr sz="1100" b="1">
                <a:solidFill>
                  <a:srgbClr val="00E5FF"/>
                </a:solidFill>
                <a:latin typeface="Segoe UI"/>
              </a:defRPr>
            </a:pPr>
            <a:r>
              <a:t>VERIFIED EXECUTION</a:t>
            </a:r>
          </a:p>
        </p:txBody>
      </p:sp>
      <p:sp>
        <p:nvSpPr>
          <p:cNvPr id="4" name="TextBox 3"/>
          <p:cNvSpPr txBox="1"/>
          <p:nvPr/>
        </p:nvSpPr>
        <p:spPr>
          <a:xfrm>
            <a:off x="914400" y="896112"/>
            <a:ext cx="10363199" cy="594360"/>
          </a:xfrm>
          <a:prstGeom prst="rect">
            <a:avLst/>
          </a:prstGeom>
          <a:noFill/>
        </p:spPr>
        <p:txBody>
          <a:bodyPr wrap="square" lIns="0" tIns="0" rIns="0" bIns="0">
            <a:spAutoFit/>
          </a:bodyPr>
          <a:lstStyle/>
          <a:p>
            <a:pPr>
              <a:defRPr sz="3200" b="1">
                <a:solidFill>
                  <a:srgbClr val="F8FAFC"/>
                </a:solidFill>
                <a:latin typeface="Segoe UI"/>
              </a:defRPr>
            </a:pPr>
            <a:r>
              <a:t>BUILT. TESTED. DEPLOYED.</a:t>
            </a:r>
          </a:p>
        </p:txBody>
      </p:sp>
      <p:sp>
        <p:nvSpPr>
          <p:cNvPr id="5" name="TextBox 4"/>
          <p:cNvSpPr txBox="1"/>
          <p:nvPr/>
        </p:nvSpPr>
        <p:spPr>
          <a:xfrm>
            <a:off x="914400" y="1536192"/>
            <a:ext cx="10363199" cy="320040"/>
          </a:xfrm>
          <a:prstGeom prst="rect">
            <a:avLst/>
          </a:prstGeom>
          <a:noFill/>
        </p:spPr>
        <p:txBody>
          <a:bodyPr wrap="square" lIns="0" tIns="0" rIns="0" bIns="0">
            <a:spAutoFit/>
          </a:bodyPr>
          <a:lstStyle/>
          <a:p>
            <a:pPr>
              <a:defRPr sz="1400" b="0">
                <a:solidFill>
                  <a:srgbClr val="94A3B8"/>
                </a:solidFill>
                <a:latin typeface="Segoe UI"/>
              </a:defRPr>
            </a:pPr>
            <a:r>
              <a:t>Fully verified implementation running on production infrastructure.</a:t>
            </a:r>
          </a:p>
        </p:txBody>
      </p:sp>
      <p:sp>
        <p:nvSpPr>
          <p:cNvPr id="6" name="TextBox 5"/>
          <p:cNvSpPr txBox="1"/>
          <p:nvPr/>
        </p:nvSpPr>
        <p:spPr>
          <a:xfrm>
            <a:off x="914400" y="2103120"/>
            <a:ext cx="10363199" cy="1188720"/>
          </a:xfrm>
          <a:prstGeom prst="rect">
            <a:avLst/>
          </a:prstGeom>
          <a:noFill/>
        </p:spPr>
        <p:txBody>
          <a:bodyPr wrap="none" lIns="0" tIns="0" rIns="0" bIns="0">
            <a:spAutoFit/>
          </a:bodyPr>
          <a:lstStyle/>
          <a:p>
            <a:pPr algn="ctr">
              <a:defRPr sz="8000" b="1">
                <a:solidFill>
                  <a:srgbClr val="00E5FF"/>
                </a:solidFill>
                <a:latin typeface="Segoe UI"/>
              </a:defRPr>
            </a:pPr>
            <a:r>
              <a:t>24 / 24</a:t>
            </a:r>
          </a:p>
        </p:txBody>
      </p:sp>
      <p:sp>
        <p:nvSpPr>
          <p:cNvPr id="7" name="TextBox 6"/>
          <p:cNvSpPr txBox="1"/>
          <p:nvPr/>
        </p:nvSpPr>
        <p:spPr>
          <a:xfrm>
            <a:off x="914400" y="3383280"/>
            <a:ext cx="10363199" cy="411480"/>
          </a:xfrm>
          <a:prstGeom prst="rect">
            <a:avLst/>
          </a:prstGeom>
          <a:noFill/>
        </p:spPr>
        <p:txBody>
          <a:bodyPr wrap="none" lIns="0" tIns="0" rIns="0" bIns="0">
            <a:spAutoFit/>
          </a:bodyPr>
          <a:lstStyle/>
          <a:p>
            <a:pPr algn="ctr">
              <a:defRPr sz="1800" b="1">
                <a:solidFill>
                  <a:srgbClr val="F8FAFC"/>
                </a:solidFill>
                <a:latin typeface="Segoe UI"/>
              </a:defRPr>
            </a:pPr>
            <a:r>
              <a:t>13 Spatial Rule Tests    ·    11 Report Lifecycle Tests</a:t>
            </a:r>
          </a:p>
        </p:txBody>
      </p:sp>
      <p:sp>
        <p:nvSpPr>
          <p:cNvPr id="8" name="Rectangle 7"/>
          <p:cNvSpPr/>
          <p:nvPr/>
        </p:nvSpPr>
        <p:spPr>
          <a:xfrm>
            <a:off x="1021079" y="4206240"/>
            <a:ext cx="1554480" cy="45720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1079" y="4297680"/>
            <a:ext cx="1554480" cy="457200"/>
          </a:xfrm>
          <a:prstGeom prst="rect">
            <a:avLst/>
          </a:prstGeom>
          <a:noFill/>
        </p:spPr>
        <p:txBody>
          <a:bodyPr wrap="none" lIns="0" tIns="0" rIns="0" bIns="0">
            <a:spAutoFit/>
          </a:bodyPr>
          <a:lstStyle/>
          <a:p>
            <a:pPr algn="ctr">
              <a:defRPr sz="1300" b="1">
                <a:solidFill>
                  <a:srgbClr val="10B981"/>
                </a:solidFill>
                <a:latin typeface="Segoe UI"/>
              </a:defRPr>
            </a:pPr>
            <a:r>
              <a:t>BUILD ✓</a:t>
            </a:r>
          </a:p>
        </p:txBody>
      </p:sp>
      <p:sp>
        <p:nvSpPr>
          <p:cNvPr id="10" name="Rectangle 9"/>
          <p:cNvSpPr/>
          <p:nvPr/>
        </p:nvSpPr>
        <p:spPr>
          <a:xfrm>
            <a:off x="2740151" y="4206240"/>
            <a:ext cx="1554480" cy="45720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0151" y="4297680"/>
            <a:ext cx="1554480" cy="457200"/>
          </a:xfrm>
          <a:prstGeom prst="rect">
            <a:avLst/>
          </a:prstGeom>
          <a:noFill/>
        </p:spPr>
        <p:txBody>
          <a:bodyPr wrap="none" lIns="0" tIns="0" rIns="0" bIns="0">
            <a:spAutoFit/>
          </a:bodyPr>
          <a:lstStyle/>
          <a:p>
            <a:pPr algn="ctr">
              <a:defRPr sz="1300" b="1">
                <a:solidFill>
                  <a:srgbClr val="10B981"/>
                </a:solidFill>
                <a:latin typeface="Segoe UI"/>
              </a:defRPr>
            </a:pPr>
            <a:r>
              <a:t>MOBILE ✓</a:t>
            </a:r>
          </a:p>
        </p:txBody>
      </p:sp>
      <p:sp>
        <p:nvSpPr>
          <p:cNvPr id="12" name="Rectangle 11"/>
          <p:cNvSpPr/>
          <p:nvPr/>
        </p:nvSpPr>
        <p:spPr>
          <a:xfrm>
            <a:off x="4459223" y="4206240"/>
            <a:ext cx="1554480" cy="45720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9223" y="4297680"/>
            <a:ext cx="1554480" cy="457200"/>
          </a:xfrm>
          <a:prstGeom prst="rect">
            <a:avLst/>
          </a:prstGeom>
          <a:noFill/>
        </p:spPr>
        <p:txBody>
          <a:bodyPr wrap="none" lIns="0" tIns="0" rIns="0" bIns="0">
            <a:spAutoFit/>
          </a:bodyPr>
          <a:lstStyle/>
          <a:p>
            <a:pPr algn="ctr">
              <a:defRPr sz="1300" b="1">
                <a:solidFill>
                  <a:srgbClr val="10B981"/>
                </a:solidFill>
                <a:latin typeface="Segoe UI"/>
              </a:defRPr>
            </a:pPr>
            <a:r>
              <a:t>DESKTOP ✓</a:t>
            </a:r>
          </a:p>
        </p:txBody>
      </p:sp>
      <p:sp>
        <p:nvSpPr>
          <p:cNvPr id="14" name="Rectangle 13"/>
          <p:cNvSpPr/>
          <p:nvPr/>
        </p:nvSpPr>
        <p:spPr>
          <a:xfrm>
            <a:off x="6178295" y="4206240"/>
            <a:ext cx="1554480" cy="45720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8295" y="4297680"/>
            <a:ext cx="1554480" cy="457200"/>
          </a:xfrm>
          <a:prstGeom prst="rect">
            <a:avLst/>
          </a:prstGeom>
          <a:noFill/>
        </p:spPr>
        <p:txBody>
          <a:bodyPr wrap="none" lIns="0" tIns="0" rIns="0" bIns="0">
            <a:spAutoFit/>
          </a:bodyPr>
          <a:lstStyle/>
          <a:p>
            <a:pPr algn="ctr">
              <a:defRPr sz="1300" b="1">
                <a:solidFill>
                  <a:srgbClr val="10B981"/>
                </a:solidFill>
                <a:latin typeface="Segoe UI"/>
              </a:defRPr>
            </a:pPr>
            <a:r>
              <a:t>LIVE ✓</a:t>
            </a:r>
          </a:p>
        </p:txBody>
      </p:sp>
      <p:sp>
        <p:nvSpPr>
          <p:cNvPr id="16" name="Rectangle 15"/>
          <p:cNvSpPr/>
          <p:nvPr/>
        </p:nvSpPr>
        <p:spPr>
          <a:xfrm>
            <a:off x="7897367" y="4206240"/>
            <a:ext cx="1554480" cy="45720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97367" y="4297680"/>
            <a:ext cx="1554480" cy="457200"/>
          </a:xfrm>
          <a:prstGeom prst="rect">
            <a:avLst/>
          </a:prstGeom>
          <a:noFill/>
        </p:spPr>
        <p:txBody>
          <a:bodyPr wrap="none" lIns="0" tIns="0" rIns="0" bIns="0">
            <a:spAutoFit/>
          </a:bodyPr>
          <a:lstStyle/>
          <a:p>
            <a:pPr algn="ctr">
              <a:defRPr sz="1300" b="1">
                <a:solidFill>
                  <a:srgbClr val="10B981"/>
                </a:solidFill>
                <a:latin typeface="Segoe UI"/>
              </a:defRPr>
            </a:pPr>
            <a:r>
              <a:t>RESCAN ✓</a:t>
            </a:r>
          </a:p>
        </p:txBody>
      </p:sp>
      <p:sp>
        <p:nvSpPr>
          <p:cNvPr id="18" name="Rectangle 17"/>
          <p:cNvSpPr/>
          <p:nvPr/>
        </p:nvSpPr>
        <p:spPr>
          <a:xfrm>
            <a:off x="9616439" y="4206240"/>
            <a:ext cx="1554480" cy="45720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16439" y="4297680"/>
            <a:ext cx="1554480" cy="457200"/>
          </a:xfrm>
          <a:prstGeom prst="rect">
            <a:avLst/>
          </a:prstGeom>
          <a:noFill/>
        </p:spPr>
        <p:txBody>
          <a:bodyPr wrap="none" lIns="0" tIns="0" rIns="0" bIns="0">
            <a:spAutoFit/>
          </a:bodyPr>
          <a:lstStyle/>
          <a:p>
            <a:pPr algn="ctr">
              <a:defRPr sz="1300" b="1">
                <a:solidFill>
                  <a:srgbClr val="10B981"/>
                </a:solidFill>
                <a:latin typeface="Segoe UI"/>
              </a:defRPr>
            </a:pPr>
            <a:r>
              <a:t>REPORT ✓</a:t>
            </a:r>
          </a:p>
        </p:txBody>
      </p:sp>
      <p:sp>
        <p:nvSpPr>
          <p:cNvPr id="20" name="TextBox 19"/>
          <p:cNvSpPr txBox="1"/>
          <p:nvPr/>
        </p:nvSpPr>
        <p:spPr>
          <a:xfrm>
            <a:off x="914400" y="5120640"/>
            <a:ext cx="10363199" cy="457200"/>
          </a:xfrm>
          <a:prstGeom prst="rect">
            <a:avLst/>
          </a:prstGeom>
          <a:noFill/>
        </p:spPr>
        <p:txBody>
          <a:bodyPr wrap="none" lIns="0" tIns="0" rIns="0" bIns="0">
            <a:spAutoFit/>
          </a:bodyPr>
          <a:lstStyle/>
          <a:p>
            <a:pPr algn="ctr">
              <a:defRPr sz="1300">
                <a:solidFill>
                  <a:srgbClr val="94A3B8"/>
                </a:solidFill>
                <a:latin typeface="Segoe UI"/>
              </a:defRPr>
            </a:pPr>
            <a:r>
              <a:t>Git Commit: afb0952    ·    verifyx-gray.vercel.app</a:t>
            </a:r>
          </a:p>
        </p:txBody>
      </p:sp>
      <p:sp>
        <p:nvSpPr>
          <p:cNvPr id="21" name="Rectangle 20"/>
          <p:cNvSpPr/>
          <p:nvPr/>
        </p:nvSpPr>
        <p:spPr>
          <a:xfrm>
            <a:off x="914400" y="6263640"/>
            <a:ext cx="10363199"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6327648"/>
            <a:ext cx="5067299" cy="274320"/>
          </a:xfrm>
          <a:prstGeom prst="rect">
            <a:avLst/>
          </a:prstGeom>
          <a:noFill/>
        </p:spPr>
        <p:txBody>
          <a:bodyPr wrap="none" lIns="0" tIns="0" rIns="0" bIns="0">
            <a:spAutoFit/>
          </a:bodyPr>
          <a:lstStyle/>
          <a:p>
            <a:pPr>
              <a:defRPr sz="950">
                <a:solidFill>
                  <a:srgbClr val="475569"/>
                </a:solidFill>
                <a:latin typeface="Segoe UI"/>
              </a:defRPr>
            </a:pPr>
            <a:r>
              <a:t>VERIFYX  ·  AI VISUAL VERIFICATION ENGINE</a:t>
            </a:r>
          </a:p>
        </p:txBody>
      </p:sp>
      <p:sp>
        <p:nvSpPr>
          <p:cNvPr id="23" name="TextBox 22"/>
          <p:cNvSpPr txBox="1"/>
          <p:nvPr/>
        </p:nvSpPr>
        <p:spPr>
          <a:xfrm>
            <a:off x="6210299" y="6327648"/>
            <a:ext cx="5067299" cy="274320"/>
          </a:xfrm>
          <a:prstGeom prst="rect">
            <a:avLst/>
          </a:prstGeom>
          <a:noFill/>
        </p:spPr>
        <p:txBody>
          <a:bodyPr wrap="none" lIns="0" tIns="0" rIns="0" bIns="0">
            <a:spAutoFit/>
          </a:bodyPr>
          <a:lstStyle/>
          <a:p>
            <a:pPr algn="r">
              <a:defRPr sz="950">
                <a:solidFill>
                  <a:srgbClr val="475569"/>
                </a:solidFill>
                <a:latin typeface="Segoe UI"/>
              </a:defRPr>
            </a:pPr>
            <a:r>
              <a:t>verifyx-gray.vercel.app  ·  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63199" cy="256032"/>
          </a:xfrm>
          <a:prstGeom prst="rect">
            <a:avLst/>
          </a:prstGeom>
          <a:noFill/>
        </p:spPr>
        <p:txBody>
          <a:bodyPr wrap="none" lIns="0" tIns="0" rIns="0" bIns="0">
            <a:spAutoFit/>
          </a:bodyPr>
          <a:lstStyle/>
          <a:p>
            <a:pPr>
              <a:defRPr sz="1100" b="1">
                <a:solidFill>
                  <a:srgbClr val="00E5FF"/>
                </a:solidFill>
                <a:latin typeface="Segoe UI"/>
              </a:defRPr>
            </a:pPr>
            <a:r>
              <a:t>ROADMAP</a:t>
            </a:r>
          </a:p>
        </p:txBody>
      </p:sp>
      <p:sp>
        <p:nvSpPr>
          <p:cNvPr id="4" name="TextBox 3"/>
          <p:cNvSpPr txBox="1"/>
          <p:nvPr/>
        </p:nvSpPr>
        <p:spPr>
          <a:xfrm>
            <a:off x="914400" y="896112"/>
            <a:ext cx="10363199" cy="594360"/>
          </a:xfrm>
          <a:prstGeom prst="rect">
            <a:avLst/>
          </a:prstGeom>
          <a:noFill/>
        </p:spPr>
        <p:txBody>
          <a:bodyPr wrap="square" lIns="0" tIns="0" rIns="0" bIns="0">
            <a:spAutoFit/>
          </a:bodyPr>
          <a:lstStyle/>
          <a:p>
            <a:pPr>
              <a:defRPr sz="3200" b="1">
                <a:solidFill>
                  <a:srgbClr val="F8FAFC"/>
                </a:solidFill>
                <a:latin typeface="Segoe UI"/>
              </a:defRPr>
            </a:pPr>
            <a:r>
              <a:t>THE VERIFICATION LAYER CAN GROW.</a:t>
            </a:r>
          </a:p>
        </p:txBody>
      </p:sp>
      <p:sp>
        <p:nvSpPr>
          <p:cNvPr id="5" name="TextBox 4"/>
          <p:cNvSpPr txBox="1"/>
          <p:nvPr/>
        </p:nvSpPr>
        <p:spPr>
          <a:xfrm>
            <a:off x="914400" y="1536192"/>
            <a:ext cx="10363199" cy="320040"/>
          </a:xfrm>
          <a:prstGeom prst="rect">
            <a:avLst/>
          </a:prstGeom>
          <a:noFill/>
        </p:spPr>
        <p:txBody>
          <a:bodyPr wrap="square" lIns="0" tIns="0" rIns="0" bIns="0">
            <a:spAutoFit/>
          </a:bodyPr>
          <a:lstStyle/>
          <a:p>
            <a:pPr>
              <a:defRPr sz="1400" b="0">
                <a:solidFill>
                  <a:srgbClr val="94A3B8"/>
                </a:solidFill>
                <a:latin typeface="Segoe UI"/>
              </a:defRPr>
            </a:pPr>
            <a:r>
              <a:t>A clear distinction between what is implemented and what comes next.</a:t>
            </a:r>
          </a:p>
        </p:txBody>
      </p:sp>
      <p:sp>
        <p:nvSpPr>
          <p:cNvPr id="6" name="Rectangle 5"/>
          <p:cNvSpPr/>
          <p:nvPr/>
        </p:nvSpPr>
        <p:spPr>
          <a:xfrm>
            <a:off x="914400" y="2103120"/>
            <a:ext cx="3125469" cy="347472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377440"/>
            <a:ext cx="2576829" cy="2926080"/>
          </a:xfrm>
          <a:prstGeom prst="rect">
            <a:avLst/>
          </a:prstGeom>
          <a:noFill/>
        </p:spPr>
        <p:txBody>
          <a:bodyPr wrap="square" lIns="0" tIns="0" rIns="0" bIns="0">
            <a:spAutoFit/>
          </a:bodyPr>
          <a:lstStyle/>
          <a:p>
            <a:pPr>
              <a:defRPr sz="1800" b="1">
                <a:solidFill>
                  <a:srgbClr val="00E5FF"/>
                </a:solidFill>
                <a:latin typeface="Segoe UI"/>
              </a:defRPr>
            </a:pPr>
            <a:r>
              <a:t>TODAY</a:t>
            </a:r>
          </a:p>
          <a:p>
            <a:pPr>
              <a:spcBef>
                <a:spcPts val="400"/>
              </a:spcBef>
              <a:defRPr sz="1100">
                <a:solidFill>
                  <a:srgbClr val="00E5FF"/>
                </a:solidFill>
                <a:latin typeface="Segoe UI"/>
              </a:defRPr>
            </a:pPr>
            <a:r>
              <a:t>Working verification engine</a:t>
            </a:r>
          </a:p>
          <a:p>
            <a:pPr>
              <a:spcBef>
                <a:spcPts val="1000"/>
              </a:spcBef>
              <a:defRPr sz="1200">
                <a:solidFill>
                  <a:srgbClr val="F8FAFC"/>
                </a:solidFill>
                <a:latin typeface="Segoe UI"/>
              </a:defRPr>
            </a:pPr>
            <a:r>
              <a:t>•  YOLO11n ONNX in browser</a:t>
            </a:r>
          </a:p>
          <a:p>
            <a:pPr>
              <a:spcBef>
                <a:spcPts val="1000"/>
              </a:spcBef>
              <a:defRPr sz="1200">
                <a:solidFill>
                  <a:srgbClr val="F8FAFC"/>
                </a:solidFill>
                <a:latin typeface="Segoe UI"/>
              </a:defRPr>
            </a:pPr>
            <a:r>
              <a:t>•  5 spatial safety rules</a:t>
            </a:r>
          </a:p>
          <a:p>
            <a:pPr>
              <a:spcBef>
                <a:spcPts val="1000"/>
              </a:spcBef>
              <a:defRPr sz="1200">
                <a:solidFill>
                  <a:srgbClr val="F8FAFC"/>
                </a:solidFill>
                <a:latin typeface="Segoe UI"/>
              </a:defRPr>
            </a:pPr>
            <a:r>
              <a:t>•  Closed-loop rescan flow</a:t>
            </a:r>
          </a:p>
          <a:p>
            <a:pPr>
              <a:spcBef>
                <a:spcPts val="1000"/>
              </a:spcBef>
              <a:defRPr sz="1200">
                <a:solidFill>
                  <a:srgbClr val="F8FAFC"/>
                </a:solidFill>
                <a:latin typeface="Segoe UI"/>
              </a:defRPr>
            </a:pPr>
            <a:r>
              <a:t>•  Structured JSON export</a:t>
            </a:r>
          </a:p>
        </p:txBody>
      </p:sp>
      <p:sp>
        <p:nvSpPr>
          <p:cNvPr id="8" name="Rectangle 7"/>
          <p:cNvSpPr/>
          <p:nvPr/>
        </p:nvSpPr>
        <p:spPr>
          <a:xfrm>
            <a:off x="4444999" y="2103120"/>
            <a:ext cx="3125469" cy="347472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19319" y="2377440"/>
            <a:ext cx="2576829" cy="2926080"/>
          </a:xfrm>
          <a:prstGeom prst="rect">
            <a:avLst/>
          </a:prstGeom>
          <a:noFill/>
        </p:spPr>
        <p:txBody>
          <a:bodyPr wrap="square" lIns="0" tIns="0" rIns="0" bIns="0">
            <a:spAutoFit/>
          </a:bodyPr>
          <a:lstStyle/>
          <a:p>
            <a:pPr>
              <a:defRPr sz="1800" b="1">
                <a:solidFill>
                  <a:srgbClr val="F8FAFC"/>
                </a:solidFill>
                <a:latin typeface="Segoe UI"/>
              </a:defRPr>
            </a:pPr>
            <a:r>
              <a:t>NEXT</a:t>
            </a:r>
          </a:p>
          <a:p>
            <a:pPr>
              <a:spcBef>
                <a:spcPts val="400"/>
              </a:spcBef>
              <a:defRPr sz="1100">
                <a:solidFill>
                  <a:srgbClr val="94A3B8"/>
                </a:solidFill>
                <a:latin typeface="Segoe UI"/>
              </a:defRPr>
            </a:pPr>
            <a:r>
              <a:t>Custom rules, APIs, Integrations</a:t>
            </a:r>
          </a:p>
          <a:p>
            <a:pPr>
              <a:spcBef>
                <a:spcPts val="1000"/>
              </a:spcBef>
              <a:defRPr sz="1200">
                <a:solidFill>
                  <a:srgbClr val="94A3B8"/>
                </a:solidFill>
                <a:latin typeface="Segoe UI"/>
              </a:defRPr>
            </a:pPr>
            <a:r>
              <a:t>•  User-defined rule schema</a:t>
            </a:r>
          </a:p>
          <a:p>
            <a:pPr>
              <a:spcBef>
                <a:spcPts val="1000"/>
              </a:spcBef>
              <a:defRPr sz="1200">
                <a:solidFill>
                  <a:srgbClr val="94A3B8"/>
                </a:solidFill>
                <a:latin typeface="Segoe UI"/>
              </a:defRPr>
            </a:pPr>
            <a:r>
              <a:t>•  REST &amp; Webhook push APIs</a:t>
            </a:r>
          </a:p>
          <a:p>
            <a:pPr>
              <a:spcBef>
                <a:spcPts val="1000"/>
              </a:spcBef>
              <a:defRPr sz="1200">
                <a:solidFill>
                  <a:srgbClr val="94A3B8"/>
                </a:solidFill>
                <a:latin typeface="Segoe UI"/>
              </a:defRPr>
            </a:pPr>
            <a:r>
              <a:t>•  Facility management export</a:t>
            </a:r>
          </a:p>
          <a:p>
            <a:pPr>
              <a:spcBef>
                <a:spcPts val="1000"/>
              </a:spcBef>
              <a:defRPr sz="1200">
                <a:solidFill>
                  <a:srgbClr val="94A3B8"/>
                </a:solidFill>
                <a:latin typeface="Segoe UI"/>
              </a:defRPr>
            </a:pPr>
            <a:r>
              <a:t>•  Batch multi-item audit</a:t>
            </a:r>
          </a:p>
        </p:txBody>
      </p:sp>
      <p:sp>
        <p:nvSpPr>
          <p:cNvPr id="10" name="Rectangle 9"/>
          <p:cNvSpPr/>
          <p:nvPr/>
        </p:nvSpPr>
        <p:spPr>
          <a:xfrm>
            <a:off x="7975599" y="2103120"/>
            <a:ext cx="3125469" cy="347472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9919" y="2377440"/>
            <a:ext cx="2576829" cy="2926080"/>
          </a:xfrm>
          <a:prstGeom prst="rect">
            <a:avLst/>
          </a:prstGeom>
          <a:noFill/>
        </p:spPr>
        <p:txBody>
          <a:bodyPr wrap="square" lIns="0" tIns="0" rIns="0" bIns="0">
            <a:spAutoFit/>
          </a:bodyPr>
          <a:lstStyle/>
          <a:p>
            <a:pPr>
              <a:defRPr sz="1800" b="1">
                <a:solidFill>
                  <a:srgbClr val="94A3B8"/>
                </a:solidFill>
                <a:latin typeface="Segoe UI"/>
              </a:defRPr>
            </a:pPr>
            <a:r>
              <a:t>FUTURE</a:t>
            </a:r>
          </a:p>
          <a:p>
            <a:pPr>
              <a:spcBef>
                <a:spcPts val="400"/>
              </a:spcBef>
              <a:defRPr sz="1100">
                <a:solidFill>
                  <a:srgbClr val="94A3B8"/>
                </a:solidFill>
                <a:latin typeface="Segoe UI"/>
              </a:defRPr>
            </a:pPr>
            <a:r>
              <a:t>Tamper-evident records, Multi-camera workflows</a:t>
            </a:r>
          </a:p>
          <a:p>
            <a:pPr>
              <a:spcBef>
                <a:spcPts val="1000"/>
              </a:spcBef>
              <a:defRPr sz="1200">
                <a:solidFill>
                  <a:srgbClr val="94A3B8"/>
                </a:solidFill>
                <a:latin typeface="Segoe UI"/>
              </a:defRPr>
            </a:pPr>
            <a:r>
              <a:t>•  Cryptographic audit logs</a:t>
            </a:r>
          </a:p>
          <a:p>
            <a:pPr>
              <a:spcBef>
                <a:spcPts val="1000"/>
              </a:spcBef>
              <a:defRPr sz="1200">
                <a:solidFill>
                  <a:srgbClr val="94A3B8"/>
                </a:solidFill>
                <a:latin typeface="Segoe UI"/>
              </a:defRPr>
            </a:pPr>
            <a:r>
              <a:t>•  Multi-camera sync</a:t>
            </a:r>
          </a:p>
          <a:p>
            <a:pPr>
              <a:spcBef>
                <a:spcPts val="1000"/>
              </a:spcBef>
              <a:defRPr sz="1200">
                <a:solidFill>
                  <a:srgbClr val="94A3B8"/>
                </a:solidFill>
                <a:latin typeface="Segoe UI"/>
              </a:defRPr>
            </a:pPr>
            <a:r>
              <a:t>•  Automated work order trigger</a:t>
            </a:r>
          </a:p>
          <a:p>
            <a:pPr>
              <a:spcBef>
                <a:spcPts val="1000"/>
              </a:spcBef>
              <a:defRPr sz="1200">
                <a:solidFill>
                  <a:srgbClr val="94A3B8"/>
                </a:solidFill>
                <a:latin typeface="Segoe UI"/>
              </a:defRPr>
            </a:pPr>
            <a:r>
              <a:t>•  Spatial digital twin mapping</a:t>
            </a:r>
          </a:p>
        </p:txBody>
      </p:sp>
      <p:sp>
        <p:nvSpPr>
          <p:cNvPr id="12" name="TextBox 11"/>
          <p:cNvSpPr txBox="1"/>
          <p:nvPr/>
        </p:nvSpPr>
        <p:spPr>
          <a:xfrm>
            <a:off x="914400" y="5760720"/>
            <a:ext cx="10363199" cy="320040"/>
          </a:xfrm>
          <a:prstGeom prst="rect">
            <a:avLst/>
          </a:prstGeom>
          <a:noFill/>
        </p:spPr>
        <p:txBody>
          <a:bodyPr wrap="square" lIns="0" tIns="0" rIns="0" bIns="0">
            <a:spAutoFit/>
          </a:bodyPr>
          <a:lstStyle/>
          <a:p>
            <a:pPr algn="ctr">
              <a:defRPr sz="1050">
                <a:solidFill>
                  <a:srgbClr val="475569"/>
                </a:solidFill>
                <a:latin typeface="Segoe UI"/>
              </a:defRPr>
            </a:pPr>
            <a:r>
              <a:t>Prototype verification rule engine — not a certified safety compliance system.</a:t>
            </a:r>
          </a:p>
        </p:txBody>
      </p:sp>
      <p:sp>
        <p:nvSpPr>
          <p:cNvPr id="13" name="Rectangle 12"/>
          <p:cNvSpPr/>
          <p:nvPr/>
        </p:nvSpPr>
        <p:spPr>
          <a:xfrm>
            <a:off x="914400" y="6263640"/>
            <a:ext cx="10363199"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327648"/>
            <a:ext cx="5067299" cy="274320"/>
          </a:xfrm>
          <a:prstGeom prst="rect">
            <a:avLst/>
          </a:prstGeom>
          <a:noFill/>
        </p:spPr>
        <p:txBody>
          <a:bodyPr wrap="none" lIns="0" tIns="0" rIns="0" bIns="0">
            <a:spAutoFit/>
          </a:bodyPr>
          <a:lstStyle/>
          <a:p>
            <a:pPr>
              <a:defRPr sz="950">
                <a:solidFill>
                  <a:srgbClr val="475569"/>
                </a:solidFill>
                <a:latin typeface="Segoe UI"/>
              </a:defRPr>
            </a:pPr>
            <a:r>
              <a:t>VERIFYX  ·  AI VISUAL VERIFICATION ENGINE</a:t>
            </a:r>
          </a:p>
        </p:txBody>
      </p:sp>
      <p:sp>
        <p:nvSpPr>
          <p:cNvPr id="15" name="TextBox 14"/>
          <p:cNvSpPr txBox="1"/>
          <p:nvPr/>
        </p:nvSpPr>
        <p:spPr>
          <a:xfrm>
            <a:off x="6210299" y="6327648"/>
            <a:ext cx="5067299" cy="274320"/>
          </a:xfrm>
          <a:prstGeom prst="rect">
            <a:avLst/>
          </a:prstGeom>
          <a:noFill/>
        </p:spPr>
        <p:txBody>
          <a:bodyPr wrap="none" lIns="0" tIns="0" rIns="0" bIns="0">
            <a:spAutoFit/>
          </a:bodyPr>
          <a:lstStyle/>
          <a:p>
            <a:pPr algn="r">
              <a:defRPr sz="950">
                <a:solidFill>
                  <a:srgbClr val="475569"/>
                </a:solidFill>
                <a:latin typeface="Segoe UI"/>
              </a:defRPr>
            </a:pPr>
            <a:r>
              <a:t>verifyx-gray.vercel.app  ·  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5949949" cy="320040"/>
          </a:xfrm>
          <a:prstGeom prst="rect">
            <a:avLst/>
          </a:prstGeom>
          <a:noFill/>
        </p:spPr>
        <p:txBody>
          <a:bodyPr wrap="none" lIns="0" tIns="0" rIns="0" bIns="0">
            <a:spAutoFit/>
          </a:bodyPr>
          <a:lstStyle/>
          <a:p>
            <a:pPr>
              <a:defRPr sz="1200" b="1">
                <a:solidFill>
                  <a:srgbClr val="00E5FF"/>
                </a:solidFill>
                <a:latin typeface="Segoe UI"/>
              </a:defRPr>
            </a:pPr>
            <a:r>
              <a:t>THE NEW STANDARD IN FACILITY AUDITS</a:t>
            </a:r>
          </a:p>
        </p:txBody>
      </p:sp>
      <p:sp>
        <p:nvSpPr>
          <p:cNvPr id="4" name="TextBox 3"/>
          <p:cNvSpPr txBox="1"/>
          <p:nvPr/>
        </p:nvSpPr>
        <p:spPr>
          <a:xfrm>
            <a:off x="914400" y="2011680"/>
            <a:ext cx="6407149" cy="1188720"/>
          </a:xfrm>
          <a:prstGeom prst="rect">
            <a:avLst/>
          </a:prstGeom>
          <a:noFill/>
        </p:spPr>
        <p:txBody>
          <a:bodyPr wrap="square" lIns="0" tIns="0" rIns="0" bIns="0">
            <a:spAutoFit/>
          </a:bodyPr>
          <a:lstStyle/>
          <a:p>
            <a:pPr>
              <a:defRPr sz="4000" b="1">
                <a:solidFill>
                  <a:srgbClr val="F8FAFC"/>
                </a:solidFill>
                <a:latin typeface="Segoe UI"/>
              </a:defRPr>
            </a:pPr>
            <a:r>
              <a:t>DON'T JUST TRUST IT.</a:t>
            </a:r>
            <a:br/>
            <a:r>
              <a:t>VERIFY IT.</a:t>
            </a:r>
          </a:p>
        </p:txBody>
      </p:sp>
      <p:sp>
        <p:nvSpPr>
          <p:cNvPr id="5" name="TextBox 4"/>
          <p:cNvSpPr txBox="1"/>
          <p:nvPr/>
        </p:nvSpPr>
        <p:spPr>
          <a:xfrm>
            <a:off x="914400" y="3474720"/>
            <a:ext cx="5949949" cy="365760"/>
          </a:xfrm>
          <a:prstGeom prst="rect">
            <a:avLst/>
          </a:prstGeom>
          <a:noFill/>
        </p:spPr>
        <p:txBody>
          <a:bodyPr wrap="square" lIns="0" tIns="0" rIns="0" bIns="0">
            <a:spAutoFit/>
          </a:bodyPr>
          <a:lstStyle/>
          <a:p>
            <a:pPr>
              <a:defRPr sz="1600" b="1">
                <a:solidFill>
                  <a:srgbClr val="10B981"/>
                </a:solidFill>
                <a:latin typeface="Segoe UI"/>
              </a:defRPr>
            </a:pPr>
            <a:r>
              <a:t>Built • Tested • Deployed</a:t>
            </a:r>
          </a:p>
        </p:txBody>
      </p:sp>
      <p:sp>
        <p:nvSpPr>
          <p:cNvPr id="6" name="TextBox 5"/>
          <p:cNvSpPr txBox="1"/>
          <p:nvPr/>
        </p:nvSpPr>
        <p:spPr>
          <a:xfrm>
            <a:off x="914400" y="4114800"/>
            <a:ext cx="5949949" cy="411480"/>
          </a:xfrm>
          <a:prstGeom prst="rect">
            <a:avLst/>
          </a:prstGeom>
          <a:noFill/>
        </p:spPr>
        <p:txBody>
          <a:bodyPr wrap="square" lIns="0" tIns="0" rIns="0" bIns="0">
            <a:spAutoFit/>
          </a:bodyPr>
          <a:lstStyle/>
          <a:p>
            <a:pPr>
              <a:defRPr sz="1700" b="1">
                <a:solidFill>
                  <a:srgbClr val="00E5FF"/>
                </a:solidFill>
                <a:latin typeface="Segoe UI"/>
              </a:defRPr>
            </a:pPr>
            <a:r>
              <a:t>https://verifyx-gray.vercel.app/</a:t>
            </a:r>
          </a:p>
        </p:txBody>
      </p:sp>
      <p:sp>
        <p:nvSpPr>
          <p:cNvPr id="7" name="TextBox 6"/>
          <p:cNvSpPr txBox="1"/>
          <p:nvPr/>
        </p:nvSpPr>
        <p:spPr>
          <a:xfrm>
            <a:off x="914400" y="4663440"/>
            <a:ext cx="5949949" cy="365760"/>
          </a:xfrm>
          <a:prstGeom prst="rect">
            <a:avLst/>
          </a:prstGeom>
          <a:noFill/>
        </p:spPr>
        <p:txBody>
          <a:bodyPr wrap="square" lIns="0" tIns="0" rIns="0" bIns="0">
            <a:spAutoFit/>
          </a:bodyPr>
          <a:lstStyle/>
          <a:p>
            <a:pPr>
              <a:defRPr sz="1300">
                <a:solidFill>
                  <a:srgbClr val="94A3B8"/>
                </a:solidFill>
                <a:latin typeface="Segoe UI"/>
              </a:defRPr>
            </a:pPr>
            <a:r>
              <a:t>Deterministic AI visual verification running client-side.</a:t>
            </a:r>
          </a:p>
        </p:txBody>
      </p:sp>
      <p:sp>
        <p:nvSpPr>
          <p:cNvPr id="8" name="Rectangle 7"/>
          <p:cNvSpPr/>
          <p:nvPr/>
        </p:nvSpPr>
        <p:spPr>
          <a:xfrm>
            <a:off x="7975599" y="1645920"/>
            <a:ext cx="3301999" cy="4023360"/>
          </a:xfrm>
          <a:prstGeom prst="rect">
            <a:avLst/>
          </a:prstGeom>
          <a:solidFill>
            <a:srgbClr val="131B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erifyx_qr.png"/>
          <p:cNvPicPr>
            <a:picLocks noChangeAspect="1"/>
          </p:cNvPicPr>
          <p:nvPr/>
        </p:nvPicPr>
        <p:blipFill>
          <a:blip r:embed="rId2"/>
          <a:stretch>
            <a:fillRect/>
          </a:stretch>
        </p:blipFill>
        <p:spPr>
          <a:xfrm>
            <a:off x="8437879" y="2011680"/>
            <a:ext cx="2377440" cy="2377440"/>
          </a:xfrm>
          <a:prstGeom prst="rect">
            <a:avLst/>
          </a:prstGeom>
        </p:spPr>
      </p:pic>
      <p:sp>
        <p:nvSpPr>
          <p:cNvPr id="10" name="TextBox 9"/>
          <p:cNvSpPr txBox="1"/>
          <p:nvPr/>
        </p:nvSpPr>
        <p:spPr>
          <a:xfrm>
            <a:off x="7975599" y="4663440"/>
            <a:ext cx="3301999" cy="731520"/>
          </a:xfrm>
          <a:prstGeom prst="rect">
            <a:avLst/>
          </a:prstGeom>
          <a:noFill/>
        </p:spPr>
        <p:txBody>
          <a:bodyPr wrap="square" lIns="0" tIns="0" rIns="0" bIns="0">
            <a:spAutoFit/>
          </a:bodyPr>
          <a:lstStyle/>
          <a:p>
            <a:pPr algn="ctr">
              <a:defRPr sz="1300" b="1">
                <a:solidFill>
                  <a:srgbClr val="F8FAFC"/>
                </a:solidFill>
                <a:latin typeface="Segoe UI"/>
              </a:defRPr>
            </a:pPr>
            <a:r>
              <a:t>verifyx-gray.vercel.app</a:t>
            </a:r>
          </a:p>
          <a:p>
            <a:pPr algn="ctr">
              <a:defRPr sz="1100">
                <a:solidFill>
                  <a:srgbClr val="94A3B8"/>
                </a:solidFill>
                <a:latin typeface="Segoe UI"/>
              </a:defRPr>
            </a:pPr>
            <a:r>
              <a:t>Scan with your phone to test live</a:t>
            </a:r>
          </a:p>
        </p:txBody>
      </p:sp>
      <p:sp>
        <p:nvSpPr>
          <p:cNvPr id="11" name="Rectangle 10"/>
          <p:cNvSpPr/>
          <p:nvPr/>
        </p:nvSpPr>
        <p:spPr>
          <a:xfrm>
            <a:off x="914400" y="6263640"/>
            <a:ext cx="10363199"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6327648"/>
            <a:ext cx="5067299" cy="274320"/>
          </a:xfrm>
          <a:prstGeom prst="rect">
            <a:avLst/>
          </a:prstGeom>
          <a:noFill/>
        </p:spPr>
        <p:txBody>
          <a:bodyPr wrap="none" lIns="0" tIns="0" rIns="0" bIns="0">
            <a:spAutoFit/>
          </a:bodyPr>
          <a:lstStyle/>
          <a:p>
            <a:pPr>
              <a:defRPr sz="950">
                <a:solidFill>
                  <a:srgbClr val="475569"/>
                </a:solidFill>
                <a:latin typeface="Segoe UI"/>
              </a:defRPr>
            </a:pPr>
            <a:r>
              <a:t>VERIFYX  ·  AI VISUAL VERIFICATION ENGINE</a:t>
            </a:r>
          </a:p>
        </p:txBody>
      </p:sp>
      <p:sp>
        <p:nvSpPr>
          <p:cNvPr id="13" name="TextBox 12"/>
          <p:cNvSpPr txBox="1"/>
          <p:nvPr/>
        </p:nvSpPr>
        <p:spPr>
          <a:xfrm>
            <a:off x="6210299" y="6327648"/>
            <a:ext cx="5067299" cy="274320"/>
          </a:xfrm>
          <a:prstGeom prst="rect">
            <a:avLst/>
          </a:prstGeom>
          <a:noFill/>
        </p:spPr>
        <p:txBody>
          <a:bodyPr wrap="none" lIns="0" tIns="0" rIns="0" bIns="0">
            <a:spAutoFit/>
          </a:bodyPr>
          <a:lstStyle/>
          <a:p>
            <a:pPr algn="r">
              <a:defRPr sz="950">
                <a:solidFill>
                  <a:srgbClr val="475569"/>
                </a:solidFill>
                <a:latin typeface="Segoe UI"/>
              </a:defRPr>
            </a:pPr>
            <a:r>
              <a:t>verifyx-gray.vercel.app  ·  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