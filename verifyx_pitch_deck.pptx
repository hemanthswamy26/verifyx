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good morning. In an era where visual documentation and physical compliance are easily misdiagnosed or overlooked, trusting raw visual inspection alone creates massive operational blind spots.</a:t>
            </a:r>
          </a:p>
          <a:p/>
          <a:p>
            <a:r>
              <a:t>This is VERIFYX — built around a straightforward operating principle: Verify Before You Trust.</a:t>
            </a:r>
          </a:p>
          <a:p/>
          <a:p>
            <a:r>
              <a:t>VERIFYX is not a slide concept, not a mockup, and not an unvalidated research paper. It is an active, deployed web application running right now on Vercel at verifyx.vercel.app. It performs visual object detection, deterministic spatial reasoning, and closed-loop verification directly in the user's browser. Let me show you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operations teams evaluate critical visual evidence: Is that exit corridor truly clear of obstructions? Is emergency equipment present and properly mounted? Has a previously flagged hazard actually been cleared?</a:t>
            </a:r>
          </a:p>
          <a:p/>
          <a:p>
            <a:r>
              <a:t>Today, visual inspection fails because seeing is no longer believing. Humans are overloaded with visual checks, unable to reliably estimate spatial overlap percentages with the naked eye, and forced to manually copy-paste photos into disconnected spreadsheets.</a:t>
            </a:r>
          </a:p>
          <a:p/>
          <a:p>
            <a:r>
              <a:t>When verification is fragmented, compliance degrades into guesswork.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insight is simple: Verification cannot be a one-off guess. It must be a continuous, structured workflow.</a:t>
            </a:r>
          </a:p>
          <a:p/>
          <a:p>
            <a:r>
              <a:t>In legacy workflows, someone takes a photo, uploads it, squints at the image, and makes an uncalibrated call.</a:t>
            </a:r>
          </a:p>
          <a:p/>
          <a:p>
            <a:r>
              <a:t>VERIFYX transforms this into a 5-stage closed-loop system: Capture the scene, Analyze bounding boxes and class detections, Verify against explicit geometric spatial rules, Explain the underlying decision formula, and export a structured Report.</a:t>
            </a:r>
          </a:p>
          <a:p/>
          <a:p>
            <a:r>
              <a:t>We don't just output a probability score; we provide an explainable verdict.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VERIFYX.</a:t>
            </a:r>
          </a:p>
          <a:p/>
          <a:p>
            <a:r>
              <a:t>This is a functional, end-to-end verification engine. As you can see, VERIFYX allows an operator to point their device camera at a target scene — or run through our built-in dataset evaluation mode.</a:t>
            </a:r>
          </a:p>
          <a:p/>
          <a:p>
            <a:r>
              <a:t>The engine scans the frame, isolates bounding boxes, checks spatial overlaps against safety rules, flags specific issues, requires a rescan to prove remediation, and packages the results into an inspection report.</a:t>
            </a:r>
          </a:p>
          <a:p/>
          <a:p>
            <a:r>
              <a:t>You can try this right now at verifyx.vercel.app.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technical architecture that powers VERIFYX.</a:t>
            </a:r>
          </a:p>
          <a:p/>
          <a:p>
            <a:r>
              <a:t>The system operates across four decoupled layers:</a:t>
            </a:r>
          </a:p>
          <a:p>
            <a:r>
              <a:t>First, the User Layer acquires video via WebRTC canvas streams.</a:t>
            </a:r>
          </a:p>
          <a:p>
            <a:r>
              <a:t>Second, the Processing Layer normalizes pixel tensors and applies a lightweight temporal confirmation buffer across consecutive frames.</a:t>
            </a:r>
          </a:p>
          <a:p>
            <a:r>
              <a:t>Third, the Intelligence Layer: our primary engine runs a custom YOLO11n ONNX model executing inside browser WebAssembly via ONNX Runtime Web. It detects target objects, while our pure TypeScript Spatial Rule Engine evaluates bounding box overlap, minimum pixel dimensions, and clearance zones. If WASM encounters restrictions, it gracefully falls back to local TensorFlow.js or our deterministic simulation adapter.</a:t>
            </a:r>
          </a:p>
          <a:p>
            <a:r>
              <a:t>Finally, the Output Layer renders interactive HUD overlays and generates structured JSON reports.</a:t>
            </a:r>
          </a:p>
          <a:p/>
          <a:p>
            <a:r>
              <a:t>All image processing happens locally on the client device without sending video frames to cloud servers.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model alone is not a solution. A complete solution is a user workflow that resolves an inspection task without friction.</a:t>
            </a:r>
          </a:p>
          <a:p/>
          <a:p>
            <a:r>
              <a:t>In VERIFYX, an operator completes a verification cycle in a single coherent flow:</a:t>
            </a:r>
          </a:p>
          <a:p>
            <a:r>
              <a:t>They run a Live Scan, the engine evaluates the scene, displays a 4/5 checklist result, breaks down why item #4 was flagged, prompts an immediate physical correction and rescan, and generates an inspection record.</a:t>
            </a:r>
          </a:p>
          <a:p/>
          <a:p>
            <a:r>
              <a:t>We closed the loop between detecting an issue and verifying that it was corrected.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computer vision demos often present raw bounding boxes and confidence percentages. To an inspection or safety team, a raw probability number is not an actionable decision.</a:t>
            </a:r>
          </a:p>
          <a:p/>
          <a:p>
            <a:r>
              <a:t>VERIFYX is built differently: We don't just flag; we explain.</a:t>
            </a:r>
          </a:p>
          <a:p>
            <a:r>
              <a:t>When an obstruction is detected, VERIFYX presents the underlying formula: Detected Object, plus Pathway Zone overlap, plus Rule Threshold equals Required Action.</a:t>
            </a:r>
          </a:p>
          <a:p/>
          <a:p>
            <a:r>
              <a:t>It transforms subjective visual assessments into structured, explainable findings.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early-stage AI projects often look compelling in slides but fail when tested.</a:t>
            </a:r>
          </a:p>
          <a:p/>
          <a:p>
            <a:r>
              <a:t>VERIFYX is grounded in verified software implementation:</a:t>
            </a:r>
          </a:p>
          <a:p>
            <a:r>
              <a:t>- 24 out of 24 automated unit tests pass, validating edge cases, minimum object sizes (&lt;32px), temporal confirmation, and report generation.</a:t>
            </a:r>
          </a:p>
          <a:p>
            <a:r>
              <a:t>- Production build passes cleanly with zero TypeScript errors.</a:t>
            </a:r>
          </a:p>
          <a:p>
            <a:r>
              <a:t>- Responsive layouts are validated across mobile and desktop browser viewports.</a:t>
            </a:r>
          </a:p>
          <a:p>
            <a:r>
              <a:t>- Code is committed in Git under hash afb0952 and actively deployed on Vercel.</a:t>
            </a:r>
          </a:p>
          <a:p/>
          <a:p>
            <a:r>
              <a:t>You can visit verifyx.vercel.app on your own device and inspect the live product.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can VERIFYX go from here?</a:t>
            </a:r>
          </a:p>
          <a:p/>
          <a:p>
            <a:r>
              <a:t>Today, we have demonstrated a working core thesis: explainable, in-browser visual verification with closed-loop rescan tracking.</a:t>
            </a:r>
          </a:p>
          <a:p/>
          <a:p>
            <a:r>
              <a:t>Looking ahead, we plan to develop external webhook integrations, support custom user-defined spatial rules, and explore cryptographic signing for tamper-evident audit records.</a:t>
            </a:r>
          </a:p>
          <a:p/>
          <a:p>
            <a:r>
              <a:t>Our goal is to build an accessible, explainable verification platform for routine inspection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environment where visual assumptions lead to overlooked hazards, having an explainable verification workflow matters.</a:t>
            </a:r>
          </a:p>
          <a:p/>
          <a:p>
            <a:r>
              <a:t>Don't assume.</a:t>
            </a:r>
          </a:p>
          <a:p>
            <a:r>
              <a:t>Verify before you trust.</a:t>
            </a:r>
          </a:p>
          <a:p/>
          <a:p>
            <a:r>
              <a:t>The product is live right now at verifyx.vercel.app. Visit the link or scan the QR code to test VERIFYX directly on your phone.</a:t>
            </a:r>
          </a:p>
          <a:p/>
          <a:p>
            <a:r>
              <a:t>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5486400" cy="320040"/>
          </a:xfrm>
          <a:prstGeom prst="rect">
            <a:avLst/>
          </a:prstGeom>
          <a:noFill/>
        </p:spPr>
        <p:txBody>
          <a:bodyPr wrap="none">
            <a:spAutoFit/>
          </a:bodyPr>
          <a:lstStyle/>
          <a:p>
            <a:pPr>
              <a:defRPr sz="1000" b="1">
                <a:solidFill>
                  <a:srgbClr val="00F0FF"/>
                </a:solidFill>
                <a:latin typeface="Consolas"/>
              </a:defRPr>
            </a:pPr>
            <a:r>
              <a:t>STAGE 01 // DEPLOYED APPLICATION · LIVE VERIFICATION ENGINE</a:t>
            </a:r>
          </a:p>
        </p:txBody>
      </p:sp>
      <p:sp>
        <p:nvSpPr>
          <p:cNvPr id="4" name="Rounded Rectangle 3"/>
          <p:cNvSpPr/>
          <p:nvPr/>
        </p:nvSpPr>
        <p:spPr>
          <a:xfrm>
            <a:off x="731520" y="1005840"/>
            <a:ext cx="201168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 LIVE ON VERCEL</a:t>
            </a:r>
          </a:p>
        </p:txBody>
      </p:sp>
      <p:sp>
        <p:nvSpPr>
          <p:cNvPr id="5" name="TextBox 4"/>
          <p:cNvSpPr txBox="1"/>
          <p:nvPr/>
        </p:nvSpPr>
        <p:spPr>
          <a:xfrm>
            <a:off x="731520" y="1463040"/>
            <a:ext cx="5303520" cy="1097280"/>
          </a:xfrm>
          <a:prstGeom prst="rect">
            <a:avLst/>
          </a:prstGeom>
          <a:noFill/>
        </p:spPr>
        <p:txBody>
          <a:bodyPr wrap="none">
            <a:spAutoFit/>
          </a:bodyPr>
          <a:lstStyle/>
          <a:p>
            <a:pPr>
              <a:defRPr sz="6400" b="1">
                <a:solidFill>
                  <a:srgbClr val="FFFFFF"/>
                </a:solidFill>
                <a:latin typeface="Arial"/>
              </a:defRPr>
            </a:pPr>
            <a:r>
              <a:t>VERIFYX</a:t>
            </a:r>
          </a:p>
        </p:txBody>
      </p:sp>
      <p:sp>
        <p:nvSpPr>
          <p:cNvPr id="6" name="TextBox 5"/>
          <p:cNvSpPr txBox="1"/>
          <p:nvPr/>
        </p:nvSpPr>
        <p:spPr>
          <a:xfrm>
            <a:off x="731520" y="2606040"/>
            <a:ext cx="5303520" cy="548640"/>
          </a:xfrm>
          <a:prstGeom prst="rect">
            <a:avLst/>
          </a:prstGeom>
          <a:noFill/>
        </p:spPr>
        <p:txBody>
          <a:bodyPr wrap="none">
            <a:spAutoFit/>
          </a:bodyPr>
          <a:lstStyle/>
          <a:p>
            <a:pPr>
              <a:defRPr sz="2400" b="1">
                <a:solidFill>
                  <a:srgbClr val="00F0FF"/>
                </a:solidFill>
                <a:latin typeface="Arial"/>
              </a:defRPr>
            </a:pPr>
            <a:r>
              <a:t>"Verify Before You Trust."</a:t>
            </a:r>
          </a:p>
        </p:txBody>
      </p:sp>
      <p:sp>
        <p:nvSpPr>
          <p:cNvPr id="7" name="TextBox 6"/>
          <p:cNvSpPr txBox="1"/>
          <p:nvPr/>
        </p:nvSpPr>
        <p:spPr>
          <a:xfrm>
            <a:off x="731520" y="3246120"/>
            <a:ext cx="5120640" cy="1371600"/>
          </a:xfrm>
          <a:prstGeom prst="rect">
            <a:avLst/>
          </a:prstGeom>
          <a:noFill/>
        </p:spPr>
        <p:txBody>
          <a:bodyPr wrap="square">
            <a:spAutoFit/>
          </a:bodyPr>
          <a:lstStyle/>
          <a:p>
            <a:pPr>
              <a:defRPr sz="1400">
                <a:solidFill>
                  <a:srgbClr val="FFFFFF"/>
                </a:solidFill>
                <a:latin typeface="Arial"/>
              </a:defRPr>
            </a:pPr>
            <a:r>
              <a:t>AI-powered verification for detecting suspicious or potentially non-compliant physical workplace conditions.</a:t>
            </a:r>
          </a:p>
          <a:p>
            <a:pPr>
              <a:spcBef>
                <a:spcPts val="1200"/>
              </a:spcBef>
              <a:defRPr sz="1300">
                <a:solidFill>
                  <a:srgbClr val="94A3B8"/>
                </a:solidFill>
                <a:latin typeface="Arial"/>
              </a:defRPr>
            </a:pPr>
            <a:r>
              <a:t>A phone-first, in-browser AI verification engine. Reduces visual inspection ambiguity through automated object detection, deterministic spatial rule evaluation, and closed-loop audit reports.</a:t>
            </a:r>
          </a:p>
        </p:txBody>
      </p:sp>
      <p:sp>
        <p:nvSpPr>
          <p:cNvPr id="8" name="TextBox 7"/>
          <p:cNvSpPr txBox="1"/>
          <p:nvPr/>
        </p:nvSpPr>
        <p:spPr>
          <a:xfrm>
            <a:off x="731520" y="5029200"/>
            <a:ext cx="5303520" cy="457200"/>
          </a:xfrm>
          <a:prstGeom prst="rect">
            <a:avLst/>
          </a:prstGeom>
          <a:noFill/>
        </p:spPr>
        <p:txBody>
          <a:bodyPr wrap="none">
            <a:spAutoFit/>
          </a:bodyPr>
          <a:lstStyle/>
          <a:p>
            <a:pPr>
              <a:defRPr sz="1000" b="1">
                <a:solidFill>
                  <a:srgbClr val="22C55E"/>
                </a:solidFill>
                <a:latin typeface="Consolas"/>
              </a:defRPr>
            </a:pPr>
            <a:r>
              <a:t>24/24 UNIT TESTS PASS  •  DEVICE-LOCAL PROCESSING  •  ASYNC ~2 FPS HUD</a:t>
            </a:r>
          </a:p>
        </p:txBody>
      </p:sp>
      <p:sp>
        <p:nvSpPr>
          <p:cNvPr id="9" name="TextBox 8"/>
          <p:cNvSpPr txBox="1"/>
          <p:nvPr/>
        </p:nvSpPr>
        <p:spPr>
          <a:xfrm>
            <a:off x="731520" y="6035040"/>
            <a:ext cx="10698480" cy="365760"/>
          </a:xfrm>
          <a:prstGeom prst="rect">
            <a:avLst/>
          </a:prstGeom>
          <a:noFill/>
        </p:spPr>
        <p:txBody>
          <a:bodyPr wrap="none">
            <a:spAutoFit/>
          </a:bodyPr>
          <a:lstStyle/>
          <a:p>
            <a:pPr>
              <a:defRPr sz="1100">
                <a:solidFill>
                  <a:srgbClr val="94A3B8"/>
                </a:solidFill>
                <a:latin typeface="Consolas"/>
              </a:defRPr>
            </a:pPr>
            <a:r>
              <a:t>AI • VERIFICATION • WORKFLOW    |    DEPLOYED: https://verifyx.vercel.app</a:t>
            </a:r>
          </a:p>
        </p:txBody>
      </p:sp>
      <p:sp>
        <p:nvSpPr>
          <p:cNvPr id="10" name="Rounded Rectangle 9"/>
          <p:cNvSpPr/>
          <p:nvPr/>
        </p:nvSpPr>
        <p:spPr>
          <a:xfrm>
            <a:off x="6217920" y="1005840"/>
            <a:ext cx="5212080" cy="457200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_screen_1790082836407.png"/>
          <p:cNvPicPr>
            <a:picLocks noChangeAspect="1"/>
          </p:cNvPicPr>
          <p:nvPr/>
        </p:nvPicPr>
        <p:blipFill>
          <a:blip r:embed="rId2"/>
          <a:stretch>
            <a:fillRect/>
          </a:stretch>
        </p:blipFill>
        <p:spPr>
          <a:xfrm>
            <a:off x="6309360" y="1097280"/>
            <a:ext cx="5029200" cy="4389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02 // MACRO CONTEXT · THE TRUST CRISIS</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"Seeing is no longer believing."</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The modern verification challenge across visual environments</a:t>
            </a:r>
          </a:p>
        </p:txBody>
      </p:sp>
      <p:sp>
        <p:nvSpPr>
          <p:cNvPr id="6" name="Rounded Rectangle 5"/>
          <p:cNvSpPr/>
          <p:nvPr/>
        </p:nvSpPr>
        <p:spPr>
          <a:xfrm>
            <a:off x="731520" y="1737360"/>
            <a:ext cx="10698480" cy="731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9E0B"/>
                </a:solidFill>
                <a:latin typeface="Consolas"/>
              </a:defRPr>
            </a:pPr>
            <a:r>
              <a:t>CONTENT   ───&gt;   UNKNOWN ORIGIN   ───&gt;   MANIPULATION / INSPECTION RISK   ───&gt;   UNCERTAIN TRUST</a:t>
            </a:r>
          </a:p>
        </p:txBody>
      </p:sp>
      <p:sp>
        <p:nvSpPr>
          <p:cNvPr id="7" name="Rounded Rectangle 6"/>
          <p:cNvSpPr/>
          <p:nvPr/>
        </p:nvSpPr>
        <p:spPr>
          <a:xfrm>
            <a:off x="731520" y="2651760"/>
            <a:ext cx="3383280" cy="26517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01</a:t>
            </a:r>
            <a:br/>
            <a:r>
              <a:t>INFORMATION OVERLOAD</a:t>
            </a:r>
          </a:p>
          <a:p>
            <a:pPr>
              <a:spcBef>
                <a:spcPts val="1400"/>
              </a:spcBef>
              <a:defRPr sz="1300">
                <a:solidFill>
                  <a:srgbClr val="94A3B8"/>
                </a:solidFill>
                <a:latin typeface="Arial"/>
              </a:defRPr>
            </a:pPr>
            <a:r>
              <a:t>Facility managers, safety operators, and auditors encounter high volumes of visual scenarios and documentation daily.</a:t>
            </a:r>
            <a:br/>
            <a:br/>
            <a:r>
              <a:t>The sheer volume and speed of modern operations can easily outpace manual review capacity.</a:t>
            </a:r>
          </a:p>
        </p:txBody>
      </p:sp>
      <p:sp>
        <p:nvSpPr>
          <p:cNvPr id="8" name="Rounded Rectangle 7"/>
          <p:cNvSpPr/>
          <p:nvPr/>
        </p:nvSpPr>
        <p:spPr>
          <a:xfrm>
            <a:off x="4389120" y="2651760"/>
            <a:ext cx="3383280" cy="26517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F0FF"/>
                </a:solidFill>
                <a:latin typeface="Arial"/>
              </a:defRPr>
            </a:pPr>
            <a:r>
              <a:t>02</a:t>
            </a:r>
            <a:br/>
            <a:r>
              <a:t>PERCEPTION LIMIT</a:t>
            </a:r>
          </a:p>
          <a:p>
            <a:pPr>
              <a:spcBef>
                <a:spcPts val="1400"/>
              </a:spcBef>
              <a:defRPr sz="1300">
                <a:solidFill>
                  <a:srgbClr val="94A3B8"/>
                </a:solidFill>
                <a:latin typeface="Arial"/>
              </a:defRPr>
            </a:pPr>
            <a:r>
              <a:t>Human visual inspection can struggle with precise spatial relationships, clearance margins, and subtle hazard proximity.</a:t>
            </a:r>
            <a:br/>
            <a:br/>
            <a:r>
              <a:t>Subjective human review suffers from fatigue, confirmation bias, and inconsistent evaluations.</a:t>
            </a:r>
          </a:p>
        </p:txBody>
      </p:sp>
      <p:sp>
        <p:nvSpPr>
          <p:cNvPr id="9" name="Rounded Rectangle 8"/>
          <p:cNvSpPr/>
          <p:nvPr/>
        </p:nvSpPr>
        <p:spPr>
          <a:xfrm>
            <a:off x="8046720" y="2651760"/>
            <a:ext cx="3383280" cy="26517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03</a:t>
            </a:r>
            <a:br/>
            <a:r>
              <a:t>FRAGMENTED VERIFICATION</a:t>
            </a:r>
          </a:p>
          <a:p>
            <a:pPr>
              <a:spcBef>
                <a:spcPts val="1400"/>
              </a:spcBef>
              <a:defRPr sz="1300">
                <a:solidFill>
                  <a:srgbClr val="94A3B8"/>
                </a:solidFill>
                <a:latin typeface="Arial"/>
              </a:defRPr>
            </a:pPr>
            <a:r>
              <a:t>Photos, notes, physical checklists, and audit reports frequently live in separate, disconnected workflows.</a:t>
            </a:r>
            <a:br/>
            <a:br/>
            <a:r>
              <a:t>Without a continuous chain of evidence, verification details are lost between field inspection and sign-off.</a:t>
            </a:r>
          </a:p>
        </p:txBody>
      </p:sp>
      <p:sp>
        <p:nvSpPr>
          <p:cNvPr id="10" name="Rounded Rectangle 9"/>
          <p:cNvSpPr/>
          <p:nvPr/>
        </p:nvSpPr>
        <p:spPr>
          <a:xfrm>
            <a:off x="731520" y="5532120"/>
            <a:ext cx="10698480" cy="73152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"The problem isn't finding content. It's knowing whether to trust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03 // ARCHITECTURAL PARADIGM SHIFT</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"Verification should be a workflow, not a guess."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Transforming visual verification from subjective inspection to structured evidence</a:t>
            </a:r>
          </a:p>
        </p:txBody>
      </p:sp>
      <p:sp>
        <p:nvSpPr>
          <p:cNvPr id="6" name="Rounded Rectangle 5"/>
          <p:cNvSpPr/>
          <p:nvPr/>
        </p:nvSpPr>
        <p:spPr>
          <a:xfrm>
            <a:off x="731520" y="1828800"/>
            <a:ext cx="5120640" cy="3291840"/>
          </a:xfrm>
          <a:prstGeom prst="roundRect">
            <a:avLst/>
          </a:prstGeom>
          <a:solidFill>
            <a:srgbClr val="0F0C1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F4444"/>
                </a:solidFill>
                <a:latin typeface="Consolas"/>
              </a:defRPr>
            </a:pPr>
            <a:r>
              <a:t>BEFORE  //  THE MANUAL GUESS</a:t>
            </a:r>
          </a:p>
          <a:p>
            <a:pPr>
              <a:spcBef>
                <a:spcPts val="2000"/>
              </a:spcBef>
              <a:defRPr sz="1600" b="1">
                <a:solidFill>
                  <a:srgbClr val="FFFFFF"/>
                </a:solidFill>
                <a:latin typeface="Consolas"/>
              </a:defRPr>
            </a:pPr>
            <a:r>
              <a:t>Capture  ──&gt;  Inspect  ──&gt;  Guess</a:t>
            </a:r>
          </a:p>
          <a:p>
            <a:pPr>
              <a:spcBef>
                <a:spcPts val="2000"/>
              </a:spcBef>
              <a:defRPr sz="1300">
                <a:solidFill>
                  <a:srgbClr val="94A3B8"/>
                </a:solidFill>
                <a:latin typeface="Arial"/>
              </a:defRPr>
            </a:pPr>
            <a:r>
              <a:t>• Uncalibrated visual appraisal</a:t>
            </a:r>
            <a:br/>
            <a:r>
              <a:t>• Black-box subjective judgement</a:t>
            </a:r>
            <a:br/>
            <a:r>
              <a:t>• No spatial dimension calculations</a:t>
            </a:r>
            <a:br/>
            <a:r>
              <a:t>• Verbal remediation instructions left unverified</a:t>
            </a:r>
            <a:br/>
            <a:r>
              <a:t>• High variance between individual inspectors</a:t>
            </a:r>
          </a:p>
        </p:txBody>
      </p:sp>
      <p:sp>
        <p:nvSpPr>
          <p:cNvPr id="7" name="Rounded Rectangle 6"/>
          <p:cNvSpPr/>
          <p:nvPr/>
        </p:nvSpPr>
        <p:spPr>
          <a:xfrm>
            <a:off x="6309360" y="1828800"/>
            <a:ext cx="5120640" cy="3291840"/>
          </a:xfrm>
          <a:prstGeom prst="roundRect">
            <a:avLst/>
          </a:prstGeom>
          <a:solidFill>
            <a:srgbClr val="08161C"/>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F0FF"/>
                </a:solidFill>
                <a:latin typeface="Consolas"/>
              </a:defRPr>
            </a:pPr>
            <a:r>
              <a:t>AFTER  //  THE VERIFYX WORKFLOW</a:t>
            </a:r>
          </a:p>
          <a:p>
            <a:pPr>
              <a:spcBef>
                <a:spcPts val="2000"/>
              </a:spcBef>
              <a:defRPr sz="1200" b="1">
                <a:solidFill>
                  <a:srgbClr val="22C55E"/>
                </a:solidFill>
                <a:latin typeface="Consolas"/>
              </a:defRPr>
            </a:pPr>
            <a:r>
              <a:t>CAPTURE ──&gt; ANALYZE ──&gt; VERIFY ──&gt; EXPLAIN ──&gt; REPORT</a:t>
            </a:r>
          </a:p>
          <a:p>
            <a:pPr>
              <a:spcBef>
                <a:spcPts val="2000"/>
              </a:spcBef>
              <a:defRPr sz="1300">
                <a:solidFill>
                  <a:srgbClr val="FFFFFF"/>
                </a:solidFill>
                <a:latin typeface="Arial"/>
              </a:defRPr>
            </a:pPr>
            <a:r>
              <a:t>• Automated local object detection (YOLO11n ONNX)</a:t>
            </a:r>
            <a:br/>
            <a:r>
              <a:t>• Geometric spatial rule evaluation (IoU overlap)</a:t>
            </a:r>
            <a:br/>
            <a:r>
              <a:t>• Explicit explainability formula for every verdict</a:t>
            </a:r>
            <a:br/>
            <a:r>
              <a:t>• Enforced Before/After rescan evidence for remediation</a:t>
            </a:r>
            <a:br/>
            <a:r>
              <a:t>• Structured, timestamped JSON inspection records</a:t>
            </a:r>
          </a:p>
        </p:txBody>
      </p:sp>
      <p:sp>
        <p:nvSpPr>
          <p:cNvPr id="8" name="Rounded Rectangle 7"/>
          <p:cNvSpPr/>
          <p:nvPr/>
        </p:nvSpPr>
        <p:spPr>
          <a:xfrm>
            <a:off x="731520" y="5349240"/>
            <a:ext cx="10698480" cy="914400"/>
          </a:xfrm>
          <a:prstGeom prst="roundRect">
            <a:avLst/>
          </a:prstGeom>
          <a:solidFill>
            <a:srgbClr val="0B0F19"/>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F0FF"/>
                </a:solidFill>
                <a:latin typeface="Consolas"/>
              </a:defRPr>
            </a:pPr>
            <a:r>
              <a:t>PERCEPTION + REASONING = ACTIONABLE DECISION</a:t>
            </a:r>
          </a:p>
          <a:p>
            <a:pPr>
              <a:spcBef>
                <a:spcPts val="400"/>
              </a:spcBef>
              <a:defRPr sz="1600" b="1">
                <a:solidFill>
                  <a:srgbClr val="FFFFFF"/>
                </a:solidFill>
                <a:latin typeface="Arial"/>
              </a:defRPr>
            </a:pPr>
            <a:r>
              <a:t>"VERIFYX turns raw visual input into a structured, explainable decision."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04 // PRODUCT CAPABILITIES · LIVE SYSTEM</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Meet VERIFYX.</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An AI-powered verification workflow that turns ambiguous visual inputs into an explainable verification result.</a:t>
            </a:r>
          </a:p>
        </p:txBody>
      </p:sp>
      <p:sp>
        <p:nvSpPr>
          <p:cNvPr id="6" name="Rounded Rectangle 5"/>
          <p:cNvSpPr/>
          <p:nvPr/>
        </p:nvSpPr>
        <p:spPr>
          <a:xfrm>
            <a:off x="731520" y="182880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01 LIVE SCAN</a:t>
            </a:r>
          </a:p>
          <a:p>
            <a:pPr>
              <a:spcBef>
                <a:spcPts val="300"/>
              </a:spcBef>
              <a:defRPr sz="1000">
                <a:solidFill>
                  <a:srgbClr val="94A3B8"/>
                </a:solidFill>
                <a:latin typeface="Arial"/>
              </a:defRPr>
            </a:pPr>
            <a:r>
              <a:t>Real-time camera feed with in-browser inference reticles throttled at ~2 FPS async.</a:t>
            </a:r>
          </a:p>
        </p:txBody>
      </p:sp>
      <p:sp>
        <p:nvSpPr>
          <p:cNvPr id="7" name="Rounded Rectangle 6"/>
          <p:cNvSpPr/>
          <p:nvPr/>
        </p:nvSpPr>
        <p:spPr>
          <a:xfrm>
            <a:off x="3749039" y="182880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02 DATASET DEMO</a:t>
            </a:r>
          </a:p>
          <a:p>
            <a:pPr>
              <a:spcBef>
                <a:spcPts val="300"/>
              </a:spcBef>
              <a:defRPr sz="1000">
                <a:solidFill>
                  <a:srgbClr val="94A3B8"/>
                </a:solidFill>
                <a:latin typeface="Arial"/>
              </a:defRPr>
            </a:pPr>
            <a:r>
              <a:t>Pre-loaded evaluation suite running 5 standardized workplace safety test cases.</a:t>
            </a:r>
          </a:p>
        </p:txBody>
      </p:sp>
      <p:sp>
        <p:nvSpPr>
          <p:cNvPr id="8" name="Rounded Rectangle 7"/>
          <p:cNvSpPr/>
          <p:nvPr/>
        </p:nvSpPr>
        <p:spPr>
          <a:xfrm>
            <a:off x="731520" y="306324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03 VERIFICATION RESULTS</a:t>
            </a:r>
          </a:p>
          <a:p>
            <a:pPr>
              <a:spcBef>
                <a:spcPts val="300"/>
              </a:spcBef>
              <a:defRPr sz="1000">
                <a:solidFill>
                  <a:srgbClr val="94A3B8"/>
                </a:solidFill>
                <a:latin typeface="Arial"/>
              </a:defRPr>
            </a:pPr>
            <a:r>
              <a:t>Real-time checklist resolution tallying verified standards (4 / 5 VERIFIED).</a:t>
            </a:r>
          </a:p>
        </p:txBody>
      </p:sp>
      <p:sp>
        <p:nvSpPr>
          <p:cNvPr id="9" name="Rounded Rectangle 8"/>
          <p:cNvSpPr/>
          <p:nvPr/>
        </p:nvSpPr>
        <p:spPr>
          <a:xfrm>
            <a:off x="3749039" y="306324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04 ISSUE DETECTION</a:t>
            </a:r>
          </a:p>
          <a:p>
            <a:pPr>
              <a:spcBef>
                <a:spcPts val="300"/>
              </a:spcBef>
              <a:defRPr sz="1000">
                <a:solidFill>
                  <a:srgbClr val="94A3B8"/>
                </a:solidFill>
                <a:latin typeface="Arial"/>
              </a:defRPr>
            </a:pPr>
            <a:r>
              <a:t>Mathematical spatial rule engine identifying bounding box conflicts &amp; pathway intrusions.</a:t>
            </a:r>
          </a:p>
        </p:txBody>
      </p:sp>
      <p:sp>
        <p:nvSpPr>
          <p:cNvPr id="10" name="Rounded Rectangle 9"/>
          <p:cNvSpPr/>
          <p:nvPr/>
        </p:nvSpPr>
        <p:spPr>
          <a:xfrm>
            <a:off x="731520" y="429768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05 RESCAN</a:t>
            </a:r>
          </a:p>
          <a:p>
            <a:pPr>
              <a:spcBef>
                <a:spcPts val="300"/>
              </a:spcBef>
              <a:defRPr sz="1000">
                <a:solidFill>
                  <a:srgbClr val="94A3B8"/>
                </a:solidFill>
                <a:latin typeface="Arial"/>
              </a:defRPr>
            </a:pPr>
            <a:r>
              <a:t>Closed-loop remediation workflow: side-by-side Before/After targeting confirming clearance.</a:t>
            </a:r>
          </a:p>
        </p:txBody>
      </p:sp>
      <p:sp>
        <p:nvSpPr>
          <p:cNvPr id="11" name="Rounded Rectangle 10"/>
          <p:cNvSpPr/>
          <p:nvPr/>
        </p:nvSpPr>
        <p:spPr>
          <a:xfrm>
            <a:off x="3749039" y="4297680"/>
            <a:ext cx="2880360" cy="10972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06 AUDIT REPORT</a:t>
            </a:r>
          </a:p>
          <a:p>
            <a:pPr>
              <a:spcBef>
                <a:spcPts val="300"/>
              </a:spcBef>
              <a:defRPr sz="1000">
                <a:solidFill>
                  <a:srgbClr val="94A3B8"/>
                </a:solidFill>
                <a:latin typeface="Arial"/>
              </a:defRPr>
            </a:pPr>
            <a:r>
              <a:t>Structured inspection log (VX-INSP-2026-XXXX) with timestamps and JSON export.</a:t>
            </a:r>
          </a:p>
        </p:txBody>
      </p:sp>
      <p:sp>
        <p:nvSpPr>
          <p:cNvPr id="12" name="Rounded Rectangle 11"/>
          <p:cNvSpPr/>
          <p:nvPr/>
        </p:nvSpPr>
        <p:spPr>
          <a:xfrm>
            <a:off x="731520" y="5715000"/>
            <a:ext cx="5897880" cy="59436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onsolas"/>
              </a:defRPr>
            </a:pPr>
            <a:r>
              <a:t>INPUT  ──&gt;  AI ANALYSIS  ──&gt;  SPATIAL RULES  ──&gt;  VERIFICATION RESULT  ──&gt;  REPORT</a:t>
            </a:r>
          </a:p>
        </p:txBody>
      </p:sp>
      <p:sp>
        <p:nvSpPr>
          <p:cNvPr id="13" name="Rounded Rectangle 12"/>
          <p:cNvSpPr/>
          <p:nvPr/>
        </p:nvSpPr>
        <p:spPr>
          <a:xfrm>
            <a:off x="6858000" y="1828800"/>
            <a:ext cx="4572000" cy="21488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ataset_demo_fe01_1790083347828.png"/>
          <p:cNvPicPr>
            <a:picLocks noChangeAspect="1"/>
          </p:cNvPicPr>
          <p:nvPr/>
        </p:nvPicPr>
        <p:blipFill>
          <a:blip r:embed="rId2"/>
          <a:stretch>
            <a:fillRect/>
          </a:stretch>
        </p:blipFill>
        <p:spPr>
          <a:xfrm>
            <a:off x="6903720" y="1874519"/>
            <a:ext cx="4480560" cy="2057400"/>
          </a:xfrm>
          <a:prstGeom prst="rect">
            <a:avLst/>
          </a:prstGeom>
        </p:spPr>
      </p:pic>
      <p:sp>
        <p:nvSpPr>
          <p:cNvPr id="15" name="Rounded Rectangle 14"/>
          <p:cNvSpPr/>
          <p:nvPr/>
        </p:nvSpPr>
        <p:spPr>
          <a:xfrm>
            <a:off x="6858000" y="4160520"/>
            <a:ext cx="4572000" cy="21488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erification_results_4of5_1790084431011.png"/>
          <p:cNvPicPr>
            <a:picLocks noChangeAspect="1"/>
          </p:cNvPicPr>
          <p:nvPr/>
        </p:nvPicPr>
        <p:blipFill>
          <a:blip r:embed="rId3"/>
          <a:stretch>
            <a:fillRect/>
          </a:stretch>
        </p:blipFill>
        <p:spPr>
          <a:xfrm>
            <a:off x="6903720" y="4206240"/>
            <a:ext cx="4480560" cy="2057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05 // SYSTEM ARCHITECTURE &amp; PIPELINE</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Inside the VERIFYX verification pipeline.</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A 4-tier decoupled architecture combining in-browser neural perception and deterministic spatial logic</a:t>
            </a:r>
          </a:p>
        </p:txBody>
      </p:sp>
      <p:sp>
        <p:nvSpPr>
          <p:cNvPr id="6" name="Rounded Rectangle 5"/>
          <p:cNvSpPr/>
          <p:nvPr/>
        </p:nvSpPr>
        <p:spPr>
          <a:xfrm>
            <a:off x="731520" y="1828800"/>
            <a:ext cx="10698480" cy="8686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4114800" cy="274320"/>
          </a:xfrm>
          <a:prstGeom prst="rect">
            <a:avLst/>
          </a:prstGeom>
          <a:noFill/>
        </p:spPr>
        <p:txBody>
          <a:bodyPr wrap="none" lIns="0" tIns="0" rIns="0" bIns="0">
            <a:spAutoFit/>
          </a:bodyPr>
          <a:lstStyle/>
          <a:p>
            <a:pPr>
              <a:defRPr sz="1100" b="1">
                <a:solidFill>
                  <a:srgbClr val="FFFFFF"/>
                </a:solidFill>
                <a:latin typeface="Consolas"/>
              </a:defRPr>
            </a:pPr>
            <a:r>
              <a:t>USER LAYER</a:t>
            </a:r>
          </a:p>
        </p:txBody>
      </p:sp>
      <p:sp>
        <p:nvSpPr>
          <p:cNvPr id="8" name="TextBox 7"/>
          <p:cNvSpPr txBox="1"/>
          <p:nvPr/>
        </p:nvSpPr>
        <p:spPr>
          <a:xfrm>
            <a:off x="914400" y="2176272"/>
            <a:ext cx="10332720" cy="457200"/>
          </a:xfrm>
          <a:prstGeom prst="rect">
            <a:avLst/>
          </a:prstGeom>
          <a:noFill/>
        </p:spPr>
        <p:txBody>
          <a:bodyPr wrap="square" lIns="0" tIns="0" rIns="0" bIns="0">
            <a:spAutoFit/>
          </a:bodyPr>
          <a:lstStyle/>
          <a:p>
            <a:pPr>
              <a:defRPr sz="1100">
                <a:solidFill>
                  <a:srgbClr val="FFFFFF"/>
                </a:solidFill>
                <a:latin typeface="Arial"/>
              </a:defRPr>
            </a:pPr>
            <a:r>
              <a:t>WebRTC Camera Stream (640x640 Canvas)  •  Dataset Evaluation Suite (5 Test Scenarios)</a:t>
            </a:r>
          </a:p>
        </p:txBody>
      </p:sp>
      <p:sp>
        <p:nvSpPr>
          <p:cNvPr id="9" name="Rounded Rectangle 8"/>
          <p:cNvSpPr/>
          <p:nvPr/>
        </p:nvSpPr>
        <p:spPr>
          <a:xfrm>
            <a:off x="731520" y="2816352"/>
            <a:ext cx="10698480" cy="8686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89504"/>
            <a:ext cx="4114800" cy="274320"/>
          </a:xfrm>
          <a:prstGeom prst="rect">
            <a:avLst/>
          </a:prstGeom>
          <a:noFill/>
        </p:spPr>
        <p:txBody>
          <a:bodyPr wrap="none" lIns="0" tIns="0" rIns="0" bIns="0">
            <a:spAutoFit/>
          </a:bodyPr>
          <a:lstStyle/>
          <a:p>
            <a:pPr>
              <a:defRPr sz="1100" b="1">
                <a:solidFill>
                  <a:srgbClr val="94A3B8"/>
                </a:solidFill>
                <a:latin typeface="Consolas"/>
              </a:defRPr>
            </a:pPr>
            <a:r>
              <a:t>PROCESSING LAYER</a:t>
            </a:r>
          </a:p>
        </p:txBody>
      </p:sp>
      <p:sp>
        <p:nvSpPr>
          <p:cNvPr id="11" name="TextBox 10"/>
          <p:cNvSpPr txBox="1"/>
          <p:nvPr/>
        </p:nvSpPr>
        <p:spPr>
          <a:xfrm>
            <a:off x="914400" y="3163824"/>
            <a:ext cx="10332720" cy="457200"/>
          </a:xfrm>
          <a:prstGeom prst="rect">
            <a:avLst/>
          </a:prstGeom>
          <a:noFill/>
        </p:spPr>
        <p:txBody>
          <a:bodyPr wrap="square" lIns="0" tIns="0" rIns="0" bIns="0">
            <a:spAutoFit/>
          </a:bodyPr>
          <a:lstStyle/>
          <a:p>
            <a:pPr>
              <a:defRPr sz="1100">
                <a:solidFill>
                  <a:srgbClr val="FFFFFF"/>
                </a:solidFill>
                <a:latin typeface="Arial"/>
              </a:defRPr>
            </a:pPr>
            <a:r>
              <a:t>Frame Normalization (RGB, Float32)  •  Temporal Confirmation (Sliding Window Buffer)</a:t>
            </a:r>
          </a:p>
        </p:txBody>
      </p:sp>
      <p:sp>
        <p:nvSpPr>
          <p:cNvPr id="12" name="Rounded Rectangle 11"/>
          <p:cNvSpPr/>
          <p:nvPr/>
        </p:nvSpPr>
        <p:spPr>
          <a:xfrm>
            <a:off x="731520" y="3803904"/>
            <a:ext cx="10698480" cy="8686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77056"/>
            <a:ext cx="4114800" cy="274320"/>
          </a:xfrm>
          <a:prstGeom prst="rect">
            <a:avLst/>
          </a:prstGeom>
          <a:noFill/>
        </p:spPr>
        <p:txBody>
          <a:bodyPr wrap="none" lIns="0" tIns="0" rIns="0" bIns="0">
            <a:spAutoFit/>
          </a:bodyPr>
          <a:lstStyle/>
          <a:p>
            <a:pPr>
              <a:defRPr sz="1100" b="1">
                <a:solidFill>
                  <a:srgbClr val="00F0FF"/>
                </a:solidFill>
                <a:latin typeface="Consolas"/>
              </a:defRPr>
            </a:pPr>
            <a:r>
              <a:t>INTELLIGENCE LAYER</a:t>
            </a:r>
          </a:p>
        </p:txBody>
      </p:sp>
      <p:sp>
        <p:nvSpPr>
          <p:cNvPr id="14" name="TextBox 13"/>
          <p:cNvSpPr txBox="1"/>
          <p:nvPr/>
        </p:nvSpPr>
        <p:spPr>
          <a:xfrm>
            <a:off x="914400" y="4151376"/>
            <a:ext cx="10332720" cy="457200"/>
          </a:xfrm>
          <a:prstGeom prst="rect">
            <a:avLst/>
          </a:prstGeom>
          <a:noFill/>
        </p:spPr>
        <p:txBody>
          <a:bodyPr wrap="square" lIns="0" tIns="0" rIns="0" bIns="0">
            <a:spAutoFit/>
          </a:bodyPr>
          <a:lstStyle/>
          <a:p>
            <a:pPr>
              <a:defRPr sz="1100">
                <a:solidFill>
                  <a:srgbClr val="FFFFFF"/>
                </a:solidFill>
                <a:latin typeface="Arial"/>
              </a:defRPr>
            </a:pPr>
            <a:r>
              <a:t>Primary: Custom YOLO11n ONNX via WebAssembly (onnxruntime-web 1.30.0)</a:t>
            </a:r>
            <a:br/>
            <a:r>
              <a:t>Fallback: Local TF.js COCO-SSD  ·  Deterministic Simulation Engine</a:t>
            </a:r>
            <a:br/>
            <a:r>
              <a:t>Spatial Engine: Bounding Box Overlap, Size Guardrail (&lt;32px), Egress Pathway Clearance</a:t>
            </a:r>
          </a:p>
        </p:txBody>
      </p:sp>
      <p:sp>
        <p:nvSpPr>
          <p:cNvPr id="15" name="Rounded Rectangle 14"/>
          <p:cNvSpPr/>
          <p:nvPr/>
        </p:nvSpPr>
        <p:spPr>
          <a:xfrm>
            <a:off x="731520" y="4791456"/>
            <a:ext cx="10698480" cy="86868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64608"/>
            <a:ext cx="4114800" cy="274320"/>
          </a:xfrm>
          <a:prstGeom prst="rect">
            <a:avLst/>
          </a:prstGeom>
          <a:noFill/>
        </p:spPr>
        <p:txBody>
          <a:bodyPr wrap="none" lIns="0" tIns="0" rIns="0" bIns="0">
            <a:spAutoFit/>
          </a:bodyPr>
          <a:lstStyle/>
          <a:p>
            <a:pPr>
              <a:defRPr sz="1100" b="1">
                <a:solidFill>
                  <a:srgbClr val="22C55E"/>
                </a:solidFill>
                <a:latin typeface="Consolas"/>
              </a:defRPr>
            </a:pPr>
            <a:r>
              <a:t>OUTPUT LAYER</a:t>
            </a:r>
          </a:p>
        </p:txBody>
      </p:sp>
      <p:sp>
        <p:nvSpPr>
          <p:cNvPr id="17" name="TextBox 16"/>
          <p:cNvSpPr txBox="1"/>
          <p:nvPr/>
        </p:nvSpPr>
        <p:spPr>
          <a:xfrm>
            <a:off x="914400" y="5138928"/>
            <a:ext cx="10332720" cy="457200"/>
          </a:xfrm>
          <a:prstGeom prst="rect">
            <a:avLst/>
          </a:prstGeom>
          <a:noFill/>
        </p:spPr>
        <p:txBody>
          <a:bodyPr wrap="square" lIns="0" tIns="0" rIns="0" bIns="0">
            <a:spAutoFit/>
          </a:bodyPr>
          <a:lstStyle/>
          <a:p>
            <a:pPr>
              <a:defRPr sz="1100">
                <a:solidFill>
                  <a:srgbClr val="FFFFFF"/>
                </a:solidFill>
                <a:latin typeface="Arial"/>
              </a:defRPr>
            </a:pPr>
            <a:r>
              <a:t>Dynamic Reticle HUD  •  Issue Explainability Matrix  •  Structured JSON Report (VX-INSP-2026-XXXX)</a:t>
            </a:r>
          </a:p>
        </p:txBody>
      </p:sp>
      <p:sp>
        <p:nvSpPr>
          <p:cNvPr id="18" name="Rounded Rectangle 17"/>
          <p:cNvSpPr/>
          <p:nvPr/>
        </p:nvSpPr>
        <p:spPr>
          <a:xfrm>
            <a:off x="731520" y="5897880"/>
            <a:ext cx="10698480" cy="54864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TECHNICAL PRINCIPLE: Camera frames are processed locally in the browser; they are not transmitted to external servers.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06 // USER WORKFLOW &amp; INTERACTION DESIGN</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From scan to decision in one flow.</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The complete closed-loop inspection journey: point, verify, fix, and verify again</a:t>
            </a:r>
          </a:p>
        </p:txBody>
      </p:sp>
      <p:sp>
        <p:nvSpPr>
          <p:cNvPr id="6" name="Rounded Rectangle 5"/>
          <p:cNvSpPr/>
          <p:nvPr/>
        </p:nvSpPr>
        <p:spPr>
          <a:xfrm>
            <a:off x="731520"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01 LIVE SCAN</a:t>
            </a:r>
          </a:p>
          <a:p>
            <a:pPr>
              <a:spcBef>
                <a:spcPts val="200"/>
              </a:spcBef>
              <a:defRPr sz="900">
                <a:solidFill>
                  <a:srgbClr val="94A3B8"/>
                </a:solidFill>
                <a:latin typeface="Arial"/>
              </a:defRPr>
            </a:pPr>
            <a:r>
              <a:t>Real-time camera stream HUD</a:t>
            </a:r>
          </a:p>
        </p:txBody>
      </p:sp>
      <p:sp>
        <p:nvSpPr>
          <p:cNvPr id="7" name="Rounded Rectangle 6"/>
          <p:cNvSpPr/>
          <p:nvPr/>
        </p:nvSpPr>
        <p:spPr>
          <a:xfrm>
            <a:off x="2542032"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02 ANALYZE</a:t>
            </a:r>
          </a:p>
          <a:p>
            <a:pPr>
              <a:spcBef>
                <a:spcPts val="200"/>
              </a:spcBef>
              <a:defRPr sz="900">
                <a:solidFill>
                  <a:srgbClr val="94A3B8"/>
                </a:solidFill>
                <a:latin typeface="Arial"/>
              </a:defRPr>
            </a:pPr>
            <a:r>
              <a:t>In-browser YOLO inference</a:t>
            </a:r>
          </a:p>
        </p:txBody>
      </p:sp>
      <p:sp>
        <p:nvSpPr>
          <p:cNvPr id="8" name="Rounded Rectangle 7"/>
          <p:cNvSpPr/>
          <p:nvPr/>
        </p:nvSpPr>
        <p:spPr>
          <a:xfrm>
            <a:off x="4352544"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03 RESULT</a:t>
            </a:r>
          </a:p>
          <a:p>
            <a:pPr>
              <a:spcBef>
                <a:spcPts val="200"/>
              </a:spcBef>
              <a:defRPr sz="900">
                <a:solidFill>
                  <a:srgbClr val="94A3B8"/>
                </a:solidFill>
                <a:latin typeface="Arial"/>
              </a:defRPr>
            </a:pPr>
            <a:r>
              <a:t>Instant 4/5 checklist resolution</a:t>
            </a:r>
          </a:p>
        </p:txBody>
      </p:sp>
      <p:sp>
        <p:nvSpPr>
          <p:cNvPr id="9" name="Rounded Rectangle 8"/>
          <p:cNvSpPr/>
          <p:nvPr/>
        </p:nvSpPr>
        <p:spPr>
          <a:xfrm>
            <a:off x="6163055"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04 ISSUE DETAILS</a:t>
            </a:r>
          </a:p>
          <a:p>
            <a:pPr>
              <a:spcBef>
                <a:spcPts val="200"/>
              </a:spcBef>
              <a:defRPr sz="900">
                <a:solidFill>
                  <a:srgbClr val="94A3B8"/>
                </a:solidFill>
                <a:latin typeface="Arial"/>
              </a:defRPr>
            </a:pPr>
            <a:r>
              <a:t>Explicit decision formula</a:t>
            </a:r>
          </a:p>
        </p:txBody>
      </p:sp>
      <p:sp>
        <p:nvSpPr>
          <p:cNvPr id="10" name="Rounded Rectangle 9"/>
          <p:cNvSpPr/>
          <p:nvPr/>
        </p:nvSpPr>
        <p:spPr>
          <a:xfrm>
            <a:off x="7973568"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05 RESCAN</a:t>
            </a:r>
          </a:p>
          <a:p>
            <a:pPr>
              <a:spcBef>
                <a:spcPts val="200"/>
              </a:spcBef>
              <a:defRPr sz="900">
                <a:solidFill>
                  <a:srgbClr val="94A3B8"/>
                </a:solidFill>
                <a:latin typeface="Arial"/>
              </a:defRPr>
            </a:pPr>
            <a:r>
              <a:t>Before/After clearance check</a:t>
            </a:r>
          </a:p>
        </p:txBody>
      </p:sp>
      <p:sp>
        <p:nvSpPr>
          <p:cNvPr id="11" name="Rounded Rectangle 10"/>
          <p:cNvSpPr/>
          <p:nvPr/>
        </p:nvSpPr>
        <p:spPr>
          <a:xfrm>
            <a:off x="9784080" y="1737360"/>
            <a:ext cx="1691640" cy="82296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F0FF"/>
                </a:solidFill>
                <a:latin typeface="Consolas"/>
              </a:defRPr>
            </a:pPr>
            <a:r>
              <a:t>06 REPORT</a:t>
            </a:r>
          </a:p>
          <a:p>
            <a:pPr>
              <a:spcBef>
                <a:spcPts val="200"/>
              </a:spcBef>
              <a:defRPr sz="900">
                <a:solidFill>
                  <a:srgbClr val="94A3B8"/>
                </a:solidFill>
                <a:latin typeface="Arial"/>
              </a:defRPr>
            </a:pPr>
            <a:r>
              <a:t>Structured audit log &amp; export</a:t>
            </a:r>
          </a:p>
        </p:txBody>
      </p:sp>
      <p:sp>
        <p:nvSpPr>
          <p:cNvPr id="12" name="Rounded Rectangle 11"/>
          <p:cNvSpPr/>
          <p:nvPr/>
        </p:nvSpPr>
        <p:spPr>
          <a:xfrm>
            <a:off x="731520" y="2697480"/>
            <a:ext cx="10698480" cy="594360"/>
          </a:xfrm>
          <a:prstGeom prst="roundRect">
            <a:avLst/>
          </a:prstGeom>
          <a:solidFill>
            <a:srgbClr val="0B0F19"/>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onsolas"/>
              </a:defRPr>
            </a:pPr>
            <a:r>
              <a:t>EXPLAINABLE FORMULA:  DETECTION [Chair @ (x,y,w), Conf: 88%]  +  SPATIAL RULE [Pathway Overlap &gt; 10%]  =  POSSIBLE OBSTRUCTION</a:t>
            </a:r>
          </a:p>
        </p:txBody>
      </p:sp>
      <p:sp>
        <p:nvSpPr>
          <p:cNvPr id="13" name="Rounded Rectangle 12"/>
          <p:cNvSpPr/>
          <p:nvPr/>
        </p:nvSpPr>
        <p:spPr>
          <a:xfrm>
            <a:off x="731520" y="3429000"/>
            <a:ext cx="2560320" cy="3017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ve_scan_screen_1790083147852.png"/>
          <p:cNvPicPr>
            <a:picLocks noChangeAspect="1"/>
          </p:cNvPicPr>
          <p:nvPr/>
        </p:nvPicPr>
        <p:blipFill>
          <a:blip r:embed="rId2"/>
          <a:stretch>
            <a:fillRect/>
          </a:stretch>
        </p:blipFill>
        <p:spPr>
          <a:xfrm>
            <a:off x="777240" y="3474720"/>
            <a:ext cx="2468880" cy="2651760"/>
          </a:xfrm>
          <a:prstGeom prst="rect">
            <a:avLst/>
          </a:prstGeom>
        </p:spPr>
      </p:pic>
      <p:sp>
        <p:nvSpPr>
          <p:cNvPr id="15" name="TextBox 14"/>
          <p:cNvSpPr txBox="1"/>
          <p:nvPr/>
        </p:nvSpPr>
        <p:spPr>
          <a:xfrm>
            <a:off x="731520" y="6172200"/>
            <a:ext cx="2560320" cy="274320"/>
          </a:xfrm>
          <a:prstGeom prst="rect">
            <a:avLst/>
          </a:prstGeom>
          <a:noFill/>
        </p:spPr>
        <p:txBody>
          <a:bodyPr wrap="none">
            <a:spAutoFit/>
          </a:bodyPr>
          <a:lstStyle/>
          <a:p>
            <a:pPr algn="ctr">
              <a:defRPr sz="900" b="1">
                <a:solidFill>
                  <a:srgbClr val="00F0FF"/>
                </a:solidFill>
                <a:latin typeface="Consolas"/>
              </a:defRPr>
            </a:pPr>
            <a:r>
              <a:t>LIVE TARGETING</a:t>
            </a:r>
          </a:p>
        </p:txBody>
      </p:sp>
      <p:sp>
        <p:nvSpPr>
          <p:cNvPr id="16" name="Rounded Rectangle 15"/>
          <p:cNvSpPr/>
          <p:nvPr/>
        </p:nvSpPr>
        <p:spPr>
          <a:xfrm>
            <a:off x="3456432" y="3429000"/>
            <a:ext cx="2560320" cy="3017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ssue_details_screen_1790084564301.png"/>
          <p:cNvPicPr>
            <a:picLocks noChangeAspect="1"/>
          </p:cNvPicPr>
          <p:nvPr/>
        </p:nvPicPr>
        <p:blipFill>
          <a:blip r:embed="rId3"/>
          <a:stretch>
            <a:fillRect/>
          </a:stretch>
        </p:blipFill>
        <p:spPr>
          <a:xfrm>
            <a:off x="3502152" y="3474720"/>
            <a:ext cx="2468880" cy="2651760"/>
          </a:xfrm>
          <a:prstGeom prst="rect">
            <a:avLst/>
          </a:prstGeom>
        </p:spPr>
      </p:pic>
      <p:sp>
        <p:nvSpPr>
          <p:cNvPr id="18" name="TextBox 17"/>
          <p:cNvSpPr txBox="1"/>
          <p:nvPr/>
        </p:nvSpPr>
        <p:spPr>
          <a:xfrm>
            <a:off x="3456432" y="6172200"/>
            <a:ext cx="2560320" cy="274320"/>
          </a:xfrm>
          <a:prstGeom prst="rect">
            <a:avLst/>
          </a:prstGeom>
          <a:noFill/>
        </p:spPr>
        <p:txBody>
          <a:bodyPr wrap="none">
            <a:spAutoFit/>
          </a:bodyPr>
          <a:lstStyle/>
          <a:p>
            <a:pPr algn="ctr">
              <a:defRPr sz="900" b="1">
                <a:solidFill>
                  <a:srgbClr val="00F0FF"/>
                </a:solidFill>
                <a:latin typeface="Consolas"/>
              </a:defRPr>
            </a:pPr>
            <a:r>
              <a:t>REASONING FORMULA</a:t>
            </a:r>
          </a:p>
        </p:txBody>
      </p:sp>
      <p:sp>
        <p:nvSpPr>
          <p:cNvPr id="19" name="Rounded Rectangle 18"/>
          <p:cNvSpPr/>
          <p:nvPr/>
        </p:nvSpPr>
        <p:spPr>
          <a:xfrm>
            <a:off x="6181344" y="3429000"/>
            <a:ext cx="2560320" cy="3017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escan_screen_1790084662137.png"/>
          <p:cNvPicPr>
            <a:picLocks noChangeAspect="1"/>
          </p:cNvPicPr>
          <p:nvPr/>
        </p:nvPicPr>
        <p:blipFill>
          <a:blip r:embed="rId4"/>
          <a:stretch>
            <a:fillRect/>
          </a:stretch>
        </p:blipFill>
        <p:spPr>
          <a:xfrm>
            <a:off x="6227064" y="3474720"/>
            <a:ext cx="2468880" cy="2651760"/>
          </a:xfrm>
          <a:prstGeom prst="rect">
            <a:avLst/>
          </a:prstGeom>
        </p:spPr>
      </p:pic>
      <p:sp>
        <p:nvSpPr>
          <p:cNvPr id="21" name="TextBox 20"/>
          <p:cNvSpPr txBox="1"/>
          <p:nvPr/>
        </p:nvSpPr>
        <p:spPr>
          <a:xfrm>
            <a:off x="6181344" y="6172200"/>
            <a:ext cx="2560320" cy="274320"/>
          </a:xfrm>
          <a:prstGeom prst="rect">
            <a:avLst/>
          </a:prstGeom>
          <a:noFill/>
        </p:spPr>
        <p:txBody>
          <a:bodyPr wrap="none">
            <a:spAutoFit/>
          </a:bodyPr>
          <a:lstStyle/>
          <a:p>
            <a:pPr algn="ctr">
              <a:defRPr sz="900" b="1">
                <a:solidFill>
                  <a:srgbClr val="00F0FF"/>
                </a:solidFill>
                <a:latin typeface="Consolas"/>
              </a:defRPr>
            </a:pPr>
            <a:r>
              <a:t>CLOSED-LOOP RESCAN</a:t>
            </a:r>
          </a:p>
        </p:txBody>
      </p:sp>
      <p:sp>
        <p:nvSpPr>
          <p:cNvPr id="22" name="Rounded Rectangle 21"/>
          <p:cNvSpPr/>
          <p:nvPr/>
        </p:nvSpPr>
        <p:spPr>
          <a:xfrm>
            <a:off x="8906256" y="3429000"/>
            <a:ext cx="2560320" cy="3017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eport_screen_1790084943630.png"/>
          <p:cNvPicPr>
            <a:picLocks noChangeAspect="1"/>
          </p:cNvPicPr>
          <p:nvPr/>
        </p:nvPicPr>
        <p:blipFill>
          <a:blip r:embed="rId5"/>
          <a:stretch>
            <a:fillRect/>
          </a:stretch>
        </p:blipFill>
        <p:spPr>
          <a:xfrm>
            <a:off x="8951976" y="3474720"/>
            <a:ext cx="2468880" cy="2651760"/>
          </a:xfrm>
          <a:prstGeom prst="rect">
            <a:avLst/>
          </a:prstGeom>
        </p:spPr>
      </p:pic>
      <p:sp>
        <p:nvSpPr>
          <p:cNvPr id="24" name="TextBox 23"/>
          <p:cNvSpPr txBox="1"/>
          <p:nvPr/>
        </p:nvSpPr>
        <p:spPr>
          <a:xfrm>
            <a:off x="8906256" y="6172200"/>
            <a:ext cx="2560320" cy="274320"/>
          </a:xfrm>
          <a:prstGeom prst="rect">
            <a:avLst/>
          </a:prstGeom>
          <a:noFill/>
        </p:spPr>
        <p:txBody>
          <a:bodyPr wrap="none">
            <a:spAutoFit/>
          </a:bodyPr>
          <a:lstStyle/>
          <a:p>
            <a:pPr algn="ctr">
              <a:defRPr sz="900" b="1">
                <a:solidFill>
                  <a:srgbClr val="00F0FF"/>
                </a:solidFill>
                <a:latin typeface="Consolas"/>
              </a:defRPr>
            </a:pPr>
            <a:r>
              <a:t>AUDIT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07 // WORKFLOW ADVANTAGE &amp; POSITIONING</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"VERIFYX doesn't just flag. It explains."</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Objective architectural comparison between manual inspection methods and VERIFYX</a:t>
            </a:r>
          </a:p>
        </p:txBody>
      </p:sp>
      <p:sp>
        <p:nvSpPr>
          <p:cNvPr id="6" name="Rounded Rectangle 5"/>
          <p:cNvSpPr/>
          <p:nvPr/>
        </p:nvSpPr>
        <p:spPr>
          <a:xfrm>
            <a:off x="731520" y="1828800"/>
            <a:ext cx="10698480" cy="50292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2011680" cy="320040"/>
          </a:xfrm>
          <a:prstGeom prst="rect">
            <a:avLst/>
          </a:prstGeom>
          <a:noFill/>
        </p:spPr>
        <p:txBody>
          <a:bodyPr wrap="none">
            <a:spAutoFit/>
          </a:bodyPr>
          <a:lstStyle/>
          <a:p>
            <a:pPr>
              <a:defRPr sz="1100" b="1">
                <a:solidFill>
                  <a:srgbClr val="00F0FF"/>
                </a:solidFill>
                <a:latin typeface="Consolas"/>
              </a:defRPr>
            </a:pPr>
            <a:r>
              <a:t>DIMENSION</a:t>
            </a:r>
          </a:p>
        </p:txBody>
      </p:sp>
      <p:sp>
        <p:nvSpPr>
          <p:cNvPr id="8" name="TextBox 7"/>
          <p:cNvSpPr txBox="1"/>
          <p:nvPr/>
        </p:nvSpPr>
        <p:spPr>
          <a:xfrm>
            <a:off x="3017520" y="1920240"/>
            <a:ext cx="3931920" cy="320040"/>
          </a:xfrm>
          <a:prstGeom prst="rect">
            <a:avLst/>
          </a:prstGeom>
          <a:noFill/>
        </p:spPr>
        <p:txBody>
          <a:bodyPr wrap="none">
            <a:spAutoFit/>
          </a:bodyPr>
          <a:lstStyle/>
          <a:p>
            <a:pPr>
              <a:defRPr sz="1100" b="1">
                <a:solidFill>
                  <a:srgbClr val="94A3B8"/>
                </a:solidFill>
                <a:latin typeface="Consolas"/>
              </a:defRPr>
            </a:pPr>
            <a:r>
              <a:t>MANUAL INSPECTION METHODS</a:t>
            </a:r>
          </a:p>
        </p:txBody>
      </p:sp>
      <p:sp>
        <p:nvSpPr>
          <p:cNvPr id="9" name="TextBox 8"/>
          <p:cNvSpPr txBox="1"/>
          <p:nvPr/>
        </p:nvSpPr>
        <p:spPr>
          <a:xfrm>
            <a:off x="7040880" y="1920240"/>
            <a:ext cx="4206240" cy="320040"/>
          </a:xfrm>
          <a:prstGeom prst="rect">
            <a:avLst/>
          </a:prstGeom>
          <a:noFill/>
        </p:spPr>
        <p:txBody>
          <a:bodyPr wrap="none">
            <a:spAutoFit/>
          </a:bodyPr>
          <a:lstStyle/>
          <a:p>
            <a:pPr>
              <a:defRPr sz="1100" b="1">
                <a:solidFill>
                  <a:srgbClr val="22C55E"/>
                </a:solidFill>
                <a:latin typeface="Consolas"/>
              </a:defRPr>
            </a:pPr>
            <a:r>
              <a:t>THE VERIFYX WORKFLOW</a:t>
            </a:r>
          </a:p>
        </p:txBody>
      </p:sp>
      <p:sp>
        <p:nvSpPr>
          <p:cNvPr id="10" name="Rounded Rectangle 9"/>
          <p:cNvSpPr/>
          <p:nvPr/>
        </p:nvSpPr>
        <p:spPr>
          <a:xfrm>
            <a:off x="731520" y="2423160"/>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96312"/>
            <a:ext cx="2011680" cy="320040"/>
          </a:xfrm>
          <a:prstGeom prst="rect">
            <a:avLst/>
          </a:prstGeom>
          <a:noFill/>
        </p:spPr>
        <p:txBody>
          <a:bodyPr wrap="none">
            <a:spAutoFit/>
          </a:bodyPr>
          <a:lstStyle/>
          <a:p>
            <a:pPr>
              <a:defRPr sz="1100" b="1">
                <a:solidFill>
                  <a:srgbClr val="FFFFFF"/>
                </a:solidFill>
                <a:latin typeface="Arial"/>
              </a:defRPr>
            </a:pPr>
            <a:r>
              <a:t>Tooling</a:t>
            </a:r>
          </a:p>
        </p:txBody>
      </p:sp>
      <p:sp>
        <p:nvSpPr>
          <p:cNvPr id="12" name="TextBox 11"/>
          <p:cNvSpPr txBox="1"/>
          <p:nvPr/>
        </p:nvSpPr>
        <p:spPr>
          <a:xfrm>
            <a:off x="3017520" y="2496312"/>
            <a:ext cx="3931920" cy="320040"/>
          </a:xfrm>
          <a:prstGeom prst="rect">
            <a:avLst/>
          </a:prstGeom>
          <a:noFill/>
        </p:spPr>
        <p:txBody>
          <a:bodyPr wrap="none">
            <a:spAutoFit/>
          </a:bodyPr>
          <a:lstStyle/>
          <a:p>
            <a:pPr>
              <a:defRPr sz="1100">
                <a:solidFill>
                  <a:srgbClr val="94A3B8"/>
                </a:solidFill>
                <a:latin typeface="Arial"/>
              </a:defRPr>
            </a:pPr>
            <a:r>
              <a:t>Disconnected: Camera + Paper / Spreadsheets</a:t>
            </a:r>
          </a:p>
        </p:txBody>
      </p:sp>
      <p:sp>
        <p:nvSpPr>
          <p:cNvPr id="13" name="TextBox 12"/>
          <p:cNvSpPr txBox="1"/>
          <p:nvPr/>
        </p:nvSpPr>
        <p:spPr>
          <a:xfrm>
            <a:off x="7040880" y="2496312"/>
            <a:ext cx="4206240" cy="320040"/>
          </a:xfrm>
          <a:prstGeom prst="rect">
            <a:avLst/>
          </a:prstGeom>
          <a:noFill/>
        </p:spPr>
        <p:txBody>
          <a:bodyPr wrap="none">
            <a:spAutoFit/>
          </a:bodyPr>
          <a:lstStyle/>
          <a:p>
            <a:pPr>
              <a:defRPr sz="1100" b="1">
                <a:solidFill>
                  <a:srgbClr val="00F0FF"/>
                </a:solidFill>
                <a:latin typeface="Arial"/>
              </a:defRPr>
            </a:pPr>
            <a:r>
              <a:t>Single In-Browser Web Application</a:t>
            </a:r>
          </a:p>
        </p:txBody>
      </p:sp>
      <p:sp>
        <p:nvSpPr>
          <p:cNvPr id="14" name="Rounded Rectangle 13"/>
          <p:cNvSpPr/>
          <p:nvPr/>
        </p:nvSpPr>
        <p:spPr>
          <a:xfrm>
            <a:off x="731520" y="2953512"/>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26664"/>
            <a:ext cx="2011680" cy="320040"/>
          </a:xfrm>
          <a:prstGeom prst="rect">
            <a:avLst/>
          </a:prstGeom>
          <a:noFill/>
        </p:spPr>
        <p:txBody>
          <a:bodyPr wrap="none">
            <a:spAutoFit/>
          </a:bodyPr>
          <a:lstStyle/>
          <a:p>
            <a:pPr>
              <a:defRPr sz="1100" b="1">
                <a:solidFill>
                  <a:srgbClr val="FFFFFF"/>
                </a:solidFill>
                <a:latin typeface="Arial"/>
              </a:defRPr>
            </a:pPr>
            <a:r>
              <a:t>Analysis</a:t>
            </a:r>
          </a:p>
        </p:txBody>
      </p:sp>
      <p:sp>
        <p:nvSpPr>
          <p:cNvPr id="16" name="TextBox 15"/>
          <p:cNvSpPr txBox="1"/>
          <p:nvPr/>
        </p:nvSpPr>
        <p:spPr>
          <a:xfrm>
            <a:off x="3017520" y="3026664"/>
            <a:ext cx="3931920" cy="320040"/>
          </a:xfrm>
          <a:prstGeom prst="rect">
            <a:avLst/>
          </a:prstGeom>
          <a:noFill/>
        </p:spPr>
        <p:txBody>
          <a:bodyPr wrap="none">
            <a:spAutoFit/>
          </a:bodyPr>
          <a:lstStyle/>
          <a:p>
            <a:pPr>
              <a:defRPr sz="1100">
                <a:solidFill>
                  <a:srgbClr val="94A3B8"/>
                </a:solidFill>
                <a:latin typeface="Arial"/>
              </a:defRPr>
            </a:pPr>
            <a:r>
              <a:t>Subjective, uncalibrated visual estimate</a:t>
            </a:r>
          </a:p>
        </p:txBody>
      </p:sp>
      <p:sp>
        <p:nvSpPr>
          <p:cNvPr id="17" name="TextBox 16"/>
          <p:cNvSpPr txBox="1"/>
          <p:nvPr/>
        </p:nvSpPr>
        <p:spPr>
          <a:xfrm>
            <a:off x="7040880" y="3026664"/>
            <a:ext cx="4206240" cy="320040"/>
          </a:xfrm>
          <a:prstGeom prst="rect">
            <a:avLst/>
          </a:prstGeom>
          <a:noFill/>
        </p:spPr>
        <p:txBody>
          <a:bodyPr wrap="none">
            <a:spAutoFit/>
          </a:bodyPr>
          <a:lstStyle/>
          <a:p>
            <a:pPr>
              <a:defRPr sz="1100" b="1">
                <a:solidFill>
                  <a:srgbClr val="00F0FF"/>
                </a:solidFill>
                <a:latin typeface="Arial"/>
              </a:defRPr>
            </a:pPr>
            <a:r>
              <a:t>Object Detection + Geometric Spatial Rules</a:t>
            </a:r>
          </a:p>
        </p:txBody>
      </p:sp>
      <p:sp>
        <p:nvSpPr>
          <p:cNvPr id="18" name="Rounded Rectangle 17"/>
          <p:cNvSpPr/>
          <p:nvPr/>
        </p:nvSpPr>
        <p:spPr>
          <a:xfrm>
            <a:off x="731520" y="3483863"/>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57015"/>
            <a:ext cx="2011680" cy="320040"/>
          </a:xfrm>
          <a:prstGeom prst="rect">
            <a:avLst/>
          </a:prstGeom>
          <a:noFill/>
        </p:spPr>
        <p:txBody>
          <a:bodyPr wrap="none">
            <a:spAutoFit/>
          </a:bodyPr>
          <a:lstStyle/>
          <a:p>
            <a:pPr>
              <a:defRPr sz="1100" b="1">
                <a:solidFill>
                  <a:srgbClr val="FFFFFF"/>
                </a:solidFill>
                <a:latin typeface="Arial"/>
              </a:defRPr>
            </a:pPr>
            <a:r>
              <a:t>Explainability</a:t>
            </a:r>
          </a:p>
        </p:txBody>
      </p:sp>
      <p:sp>
        <p:nvSpPr>
          <p:cNvPr id="20" name="TextBox 19"/>
          <p:cNvSpPr txBox="1"/>
          <p:nvPr/>
        </p:nvSpPr>
        <p:spPr>
          <a:xfrm>
            <a:off x="3017520" y="3557015"/>
            <a:ext cx="3931920" cy="320040"/>
          </a:xfrm>
          <a:prstGeom prst="rect">
            <a:avLst/>
          </a:prstGeom>
          <a:noFill/>
        </p:spPr>
        <p:txBody>
          <a:bodyPr wrap="none">
            <a:spAutoFit/>
          </a:bodyPr>
          <a:lstStyle/>
          <a:p>
            <a:pPr>
              <a:defRPr sz="1100">
                <a:solidFill>
                  <a:srgbClr val="94A3B8"/>
                </a:solidFill>
                <a:latin typeface="Arial"/>
              </a:defRPr>
            </a:pPr>
            <a:r>
              <a:t>Intuition-based ('looks blocked')</a:t>
            </a:r>
          </a:p>
        </p:txBody>
      </p:sp>
      <p:sp>
        <p:nvSpPr>
          <p:cNvPr id="21" name="TextBox 20"/>
          <p:cNvSpPr txBox="1"/>
          <p:nvPr/>
        </p:nvSpPr>
        <p:spPr>
          <a:xfrm>
            <a:off x="7040880" y="3557015"/>
            <a:ext cx="4206240" cy="320040"/>
          </a:xfrm>
          <a:prstGeom prst="rect">
            <a:avLst/>
          </a:prstGeom>
          <a:noFill/>
        </p:spPr>
        <p:txBody>
          <a:bodyPr wrap="none">
            <a:spAutoFit/>
          </a:bodyPr>
          <a:lstStyle/>
          <a:p>
            <a:pPr>
              <a:defRPr sz="1100" b="1">
                <a:solidFill>
                  <a:srgbClr val="00F0FF"/>
                </a:solidFill>
                <a:latin typeface="Arial"/>
              </a:defRPr>
            </a:pPr>
            <a:r>
              <a:t>Explicit Breakdown: Detection + Spatial Rule = Verdict</a:t>
            </a:r>
          </a:p>
        </p:txBody>
      </p:sp>
      <p:sp>
        <p:nvSpPr>
          <p:cNvPr id="22" name="Rounded Rectangle 21"/>
          <p:cNvSpPr/>
          <p:nvPr/>
        </p:nvSpPr>
        <p:spPr>
          <a:xfrm>
            <a:off x="731520" y="4014215"/>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087367"/>
            <a:ext cx="2011680" cy="320040"/>
          </a:xfrm>
          <a:prstGeom prst="rect">
            <a:avLst/>
          </a:prstGeom>
          <a:noFill/>
        </p:spPr>
        <p:txBody>
          <a:bodyPr wrap="none">
            <a:spAutoFit/>
          </a:bodyPr>
          <a:lstStyle/>
          <a:p>
            <a:pPr>
              <a:defRPr sz="1100" b="1">
                <a:solidFill>
                  <a:srgbClr val="FFFFFF"/>
                </a:solidFill>
                <a:latin typeface="Arial"/>
              </a:defRPr>
            </a:pPr>
            <a:r>
              <a:t>Remediation</a:t>
            </a:r>
          </a:p>
        </p:txBody>
      </p:sp>
      <p:sp>
        <p:nvSpPr>
          <p:cNvPr id="24" name="TextBox 23"/>
          <p:cNvSpPr txBox="1"/>
          <p:nvPr/>
        </p:nvSpPr>
        <p:spPr>
          <a:xfrm>
            <a:off x="3017520" y="4087367"/>
            <a:ext cx="3931920" cy="320040"/>
          </a:xfrm>
          <a:prstGeom prst="rect">
            <a:avLst/>
          </a:prstGeom>
          <a:noFill/>
        </p:spPr>
        <p:txBody>
          <a:bodyPr wrap="none">
            <a:spAutoFit/>
          </a:bodyPr>
          <a:lstStyle/>
          <a:p>
            <a:pPr>
              <a:defRPr sz="1100">
                <a:solidFill>
                  <a:srgbClr val="94A3B8"/>
                </a:solidFill>
                <a:latin typeface="Arial"/>
              </a:defRPr>
            </a:pPr>
            <a:r>
              <a:t>Untracked verbal instruction</a:t>
            </a:r>
          </a:p>
        </p:txBody>
      </p:sp>
      <p:sp>
        <p:nvSpPr>
          <p:cNvPr id="25" name="TextBox 24"/>
          <p:cNvSpPr txBox="1"/>
          <p:nvPr/>
        </p:nvSpPr>
        <p:spPr>
          <a:xfrm>
            <a:off x="7040880" y="4087367"/>
            <a:ext cx="4206240" cy="320040"/>
          </a:xfrm>
          <a:prstGeom prst="rect">
            <a:avLst/>
          </a:prstGeom>
          <a:noFill/>
        </p:spPr>
        <p:txBody>
          <a:bodyPr wrap="none">
            <a:spAutoFit/>
          </a:bodyPr>
          <a:lstStyle/>
          <a:p>
            <a:pPr>
              <a:defRPr sz="1100" b="1">
                <a:solidFill>
                  <a:srgbClr val="00F0FF"/>
                </a:solidFill>
                <a:latin typeface="Arial"/>
              </a:defRPr>
            </a:pPr>
            <a:r>
              <a:t>Enforced Before/After Rescan Evidence</a:t>
            </a:r>
          </a:p>
        </p:txBody>
      </p:sp>
      <p:sp>
        <p:nvSpPr>
          <p:cNvPr id="26" name="Rounded Rectangle 25"/>
          <p:cNvSpPr/>
          <p:nvPr/>
        </p:nvSpPr>
        <p:spPr>
          <a:xfrm>
            <a:off x="731520" y="4544568"/>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617720"/>
            <a:ext cx="2011680" cy="320040"/>
          </a:xfrm>
          <a:prstGeom prst="rect">
            <a:avLst/>
          </a:prstGeom>
          <a:noFill/>
        </p:spPr>
        <p:txBody>
          <a:bodyPr wrap="none">
            <a:spAutoFit/>
          </a:bodyPr>
          <a:lstStyle/>
          <a:p>
            <a:pPr>
              <a:defRPr sz="1100" b="1">
                <a:solidFill>
                  <a:srgbClr val="FFFFFF"/>
                </a:solidFill>
                <a:latin typeface="Arial"/>
              </a:defRPr>
            </a:pPr>
            <a:r>
              <a:t>Audit Trail</a:t>
            </a:r>
          </a:p>
        </p:txBody>
      </p:sp>
      <p:sp>
        <p:nvSpPr>
          <p:cNvPr id="28" name="TextBox 27"/>
          <p:cNvSpPr txBox="1"/>
          <p:nvPr/>
        </p:nvSpPr>
        <p:spPr>
          <a:xfrm>
            <a:off x="3017520" y="4617720"/>
            <a:ext cx="3931920" cy="320040"/>
          </a:xfrm>
          <a:prstGeom prst="rect">
            <a:avLst/>
          </a:prstGeom>
          <a:noFill/>
        </p:spPr>
        <p:txBody>
          <a:bodyPr wrap="none">
            <a:spAutoFit/>
          </a:bodyPr>
          <a:lstStyle/>
          <a:p>
            <a:pPr>
              <a:defRPr sz="1100">
                <a:solidFill>
                  <a:srgbClr val="94A3B8"/>
                </a:solidFill>
                <a:latin typeface="Arial"/>
              </a:defRPr>
            </a:pPr>
            <a:r>
              <a:t>Fragmented photos &amp; unlinked notes</a:t>
            </a:r>
          </a:p>
        </p:txBody>
      </p:sp>
      <p:sp>
        <p:nvSpPr>
          <p:cNvPr id="29" name="TextBox 28"/>
          <p:cNvSpPr txBox="1"/>
          <p:nvPr/>
        </p:nvSpPr>
        <p:spPr>
          <a:xfrm>
            <a:off x="7040880" y="4617720"/>
            <a:ext cx="4206240" cy="320040"/>
          </a:xfrm>
          <a:prstGeom prst="rect">
            <a:avLst/>
          </a:prstGeom>
          <a:noFill/>
        </p:spPr>
        <p:txBody>
          <a:bodyPr wrap="none">
            <a:spAutoFit/>
          </a:bodyPr>
          <a:lstStyle/>
          <a:p>
            <a:pPr>
              <a:defRPr sz="1100" b="1">
                <a:solidFill>
                  <a:srgbClr val="00F0FF"/>
                </a:solidFill>
                <a:latin typeface="Arial"/>
              </a:defRPr>
            </a:pPr>
            <a:r>
              <a:t>Structured JSON with Session ID &amp; Timestamps</a:t>
            </a:r>
          </a:p>
        </p:txBody>
      </p:sp>
      <p:sp>
        <p:nvSpPr>
          <p:cNvPr id="30" name="Rounded Rectangle 29"/>
          <p:cNvSpPr/>
          <p:nvPr/>
        </p:nvSpPr>
        <p:spPr>
          <a:xfrm>
            <a:off x="731520" y="5074920"/>
            <a:ext cx="10698480" cy="45720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148072"/>
            <a:ext cx="2011680" cy="320040"/>
          </a:xfrm>
          <a:prstGeom prst="rect">
            <a:avLst/>
          </a:prstGeom>
          <a:noFill/>
        </p:spPr>
        <p:txBody>
          <a:bodyPr wrap="none">
            <a:spAutoFit/>
          </a:bodyPr>
          <a:lstStyle/>
          <a:p>
            <a:pPr>
              <a:defRPr sz="1100" b="1">
                <a:solidFill>
                  <a:srgbClr val="FFFFFF"/>
                </a:solidFill>
                <a:latin typeface="Arial"/>
              </a:defRPr>
            </a:pPr>
            <a:r>
              <a:t>Processing</a:t>
            </a:r>
          </a:p>
        </p:txBody>
      </p:sp>
      <p:sp>
        <p:nvSpPr>
          <p:cNvPr id="32" name="TextBox 31"/>
          <p:cNvSpPr txBox="1"/>
          <p:nvPr/>
        </p:nvSpPr>
        <p:spPr>
          <a:xfrm>
            <a:off x="3017520" y="5148072"/>
            <a:ext cx="3931920" cy="320040"/>
          </a:xfrm>
          <a:prstGeom prst="rect">
            <a:avLst/>
          </a:prstGeom>
          <a:noFill/>
        </p:spPr>
        <p:txBody>
          <a:bodyPr wrap="none">
            <a:spAutoFit/>
          </a:bodyPr>
          <a:lstStyle/>
          <a:p>
            <a:pPr>
              <a:defRPr sz="1100">
                <a:solidFill>
                  <a:srgbClr val="94A3B8"/>
                </a:solidFill>
                <a:latin typeface="Arial"/>
              </a:defRPr>
            </a:pPr>
            <a:r>
              <a:t>Manual review after the inspection</a:t>
            </a:r>
          </a:p>
        </p:txBody>
      </p:sp>
      <p:sp>
        <p:nvSpPr>
          <p:cNvPr id="33" name="TextBox 32"/>
          <p:cNvSpPr txBox="1"/>
          <p:nvPr/>
        </p:nvSpPr>
        <p:spPr>
          <a:xfrm>
            <a:off x="7040880" y="5148072"/>
            <a:ext cx="4206240" cy="320040"/>
          </a:xfrm>
          <a:prstGeom prst="rect">
            <a:avLst/>
          </a:prstGeom>
          <a:noFill/>
        </p:spPr>
        <p:txBody>
          <a:bodyPr wrap="none">
            <a:spAutoFit/>
          </a:bodyPr>
          <a:lstStyle/>
          <a:p>
            <a:pPr>
              <a:defRPr sz="1100" b="1">
                <a:solidFill>
                  <a:srgbClr val="00F0FF"/>
                </a:solidFill>
                <a:latin typeface="Arial"/>
              </a:defRPr>
            </a:pPr>
            <a:r>
              <a:t>Real-Time On-Device Assessment</a:t>
            </a:r>
          </a:p>
        </p:txBody>
      </p:sp>
      <p:sp>
        <p:nvSpPr>
          <p:cNvPr id="34" name="Rounded Rectangle 33"/>
          <p:cNvSpPr/>
          <p:nvPr/>
        </p:nvSpPr>
        <p:spPr>
          <a:xfrm>
            <a:off x="731520" y="5760720"/>
            <a:ext cx="10698480" cy="640080"/>
          </a:xfrm>
          <a:prstGeom prst="roundRect">
            <a:avLst/>
          </a:prstGeom>
          <a:solidFill>
            <a:srgbClr val="0B0F19"/>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2C55E"/>
                </a:solidFill>
                <a:latin typeface="Consolas"/>
              </a:defRPr>
            </a:pPr>
            <a:r>
              <a:t>CORE ADVANTAGE:  DETECTION + SPATIAL RULE = EXPLAINED VERDICT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08 // TECHNICAL CREDIBILITY &amp; TEST RIGOR</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Built. Tested. Deployed.</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Demonstrated software engineering discipline with zero mockups and 100% test pass rate</a:t>
            </a:r>
          </a:p>
        </p:txBody>
      </p:sp>
      <p:sp>
        <p:nvSpPr>
          <p:cNvPr id="6" name="Rounded Rectangle 5"/>
          <p:cNvSpPr/>
          <p:nvPr/>
        </p:nvSpPr>
        <p:spPr>
          <a:xfrm>
            <a:off x="731520" y="1828800"/>
            <a:ext cx="3474720" cy="4389120"/>
          </a:xfrm>
          <a:prstGeom prst="roundRect">
            <a:avLst/>
          </a:prstGeom>
          <a:solidFill>
            <a:srgbClr val="0B0F19"/>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5400" b="1">
                <a:solidFill>
                  <a:srgbClr val="22C55E"/>
                </a:solidFill>
                <a:latin typeface="Arial"/>
              </a:defRPr>
            </a:pPr>
            <a:r>
              <a:t>24 / 24</a:t>
            </a:r>
          </a:p>
          <a:p>
            <a:pPr algn="ctr">
              <a:defRPr sz="1300" b="1">
                <a:solidFill>
                  <a:srgbClr val="FFFFFF"/>
                </a:solidFill>
                <a:latin typeface="Consolas"/>
              </a:defRPr>
            </a:pPr>
            <a:r>
              <a:t>TESTS PASSED (100%)</a:t>
            </a:r>
          </a:p>
          <a:p>
            <a:pPr>
              <a:spcBef>
                <a:spcPts val="1600"/>
              </a:spcBef>
              <a:defRPr sz="1100">
                <a:solidFill>
                  <a:srgbClr val="94A3B8"/>
                </a:solidFill>
                <a:latin typeface="Arial"/>
              </a:defRPr>
            </a:pPr>
            <a:r>
              <a:t>• 13 Spatial Rule Engine Tests</a:t>
            </a:r>
            <a:br/>
            <a:r>
              <a:t>• 11 Report Lifecycle Tests</a:t>
            </a:r>
            <a:br/>
            <a:r>
              <a:t>• Edge case validation (&lt;32px guardrail)</a:t>
            </a:r>
            <a:br/>
            <a:r>
              <a:t>• Temporal buffer tests</a:t>
            </a:r>
            <a:br/>
            <a:r>
              <a:t>• No fabricated evidence test check</a:t>
            </a:r>
            <a:br/>
            <a:r>
              <a:t>• Dev mock transfer bridge test</a:t>
            </a:r>
          </a:p>
        </p:txBody>
      </p:sp>
      <p:sp>
        <p:nvSpPr>
          <p:cNvPr id="7" name="Rounded Rectangle 6"/>
          <p:cNvSpPr/>
          <p:nvPr/>
        </p:nvSpPr>
        <p:spPr>
          <a:xfrm>
            <a:off x="4480560" y="182880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BUILD STATUS</a:t>
            </a:r>
          </a:p>
          <a:p>
            <a:pPr>
              <a:spcBef>
                <a:spcPts val="200"/>
              </a:spcBef>
              <a:defRPr sz="950" b="1">
                <a:solidFill>
                  <a:srgbClr val="FFFFFF"/>
                </a:solidFill>
                <a:latin typeface="Arial"/>
              </a:defRPr>
            </a:pPr>
            <a:r>
              <a:t>PASS (Zero Errors)</a:t>
            </a:r>
          </a:p>
        </p:txBody>
      </p:sp>
      <p:sp>
        <p:nvSpPr>
          <p:cNvPr id="8" name="Rounded Rectangle 7"/>
          <p:cNvSpPr/>
          <p:nvPr/>
        </p:nvSpPr>
        <p:spPr>
          <a:xfrm>
            <a:off x="6583680" y="182880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MOBILE VIEWPORT</a:t>
            </a:r>
          </a:p>
          <a:p>
            <a:pPr>
              <a:spcBef>
                <a:spcPts val="200"/>
              </a:spcBef>
              <a:defRPr sz="950" b="1">
                <a:solidFill>
                  <a:srgbClr val="FFFFFF"/>
                </a:solidFill>
                <a:latin typeface="Arial"/>
              </a:defRPr>
            </a:pPr>
            <a:r>
              <a:t>VALIDATED</a:t>
            </a:r>
            <a:br/>
            <a:r>
              <a:t>Touch HUD</a:t>
            </a:r>
          </a:p>
        </p:txBody>
      </p:sp>
      <p:sp>
        <p:nvSpPr>
          <p:cNvPr id="9" name="Rounded Rectangle 8"/>
          <p:cNvSpPr/>
          <p:nvPr/>
        </p:nvSpPr>
        <p:spPr>
          <a:xfrm>
            <a:off x="4480560" y="269748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DESKTOP VIEWPORT</a:t>
            </a:r>
          </a:p>
          <a:p>
            <a:pPr>
              <a:spcBef>
                <a:spcPts val="200"/>
              </a:spcBef>
              <a:defRPr sz="950" b="1">
                <a:solidFill>
                  <a:srgbClr val="FFFFFF"/>
                </a:solidFill>
                <a:latin typeface="Arial"/>
              </a:defRPr>
            </a:pPr>
            <a:r>
              <a:t>VALIDATED</a:t>
            </a:r>
            <a:br/>
            <a:r>
              <a:t>Responsive</a:t>
            </a:r>
          </a:p>
        </p:txBody>
      </p:sp>
      <p:sp>
        <p:nvSpPr>
          <p:cNvPr id="10" name="Rounded Rectangle 9"/>
          <p:cNvSpPr/>
          <p:nvPr/>
        </p:nvSpPr>
        <p:spPr>
          <a:xfrm>
            <a:off x="6583680" y="269748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LIVE SCAN</a:t>
            </a:r>
          </a:p>
          <a:p>
            <a:pPr>
              <a:spcBef>
                <a:spcPts val="200"/>
              </a:spcBef>
              <a:defRPr sz="950" b="1">
                <a:solidFill>
                  <a:srgbClr val="FFFFFF"/>
                </a:solidFill>
                <a:latin typeface="Arial"/>
              </a:defRPr>
            </a:pPr>
            <a:r>
              <a:t>PASS (~2 FPS Async)</a:t>
            </a:r>
          </a:p>
        </p:txBody>
      </p:sp>
      <p:sp>
        <p:nvSpPr>
          <p:cNvPr id="11" name="Rounded Rectangle 10"/>
          <p:cNvSpPr/>
          <p:nvPr/>
        </p:nvSpPr>
        <p:spPr>
          <a:xfrm>
            <a:off x="4480560" y="356616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DATASET DEMO</a:t>
            </a:r>
          </a:p>
          <a:p>
            <a:pPr>
              <a:spcBef>
                <a:spcPts val="200"/>
              </a:spcBef>
              <a:defRPr sz="950" b="1">
                <a:solidFill>
                  <a:srgbClr val="FFFFFF"/>
                </a:solidFill>
                <a:latin typeface="Arial"/>
              </a:defRPr>
            </a:pPr>
            <a:r>
              <a:t>PASS (5 Test Cases)</a:t>
            </a:r>
          </a:p>
        </p:txBody>
      </p:sp>
      <p:sp>
        <p:nvSpPr>
          <p:cNvPr id="12" name="Rounded Rectangle 11"/>
          <p:cNvSpPr/>
          <p:nvPr/>
        </p:nvSpPr>
        <p:spPr>
          <a:xfrm>
            <a:off x="6583680" y="356616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CLOSED RESCAN</a:t>
            </a:r>
          </a:p>
          <a:p>
            <a:pPr>
              <a:spcBef>
                <a:spcPts val="200"/>
              </a:spcBef>
              <a:defRPr sz="950" b="1">
                <a:solidFill>
                  <a:srgbClr val="FFFFFF"/>
                </a:solidFill>
                <a:latin typeface="Arial"/>
              </a:defRPr>
            </a:pPr>
            <a:r>
              <a:t>PASS (Remediation)</a:t>
            </a:r>
          </a:p>
        </p:txBody>
      </p:sp>
      <p:sp>
        <p:nvSpPr>
          <p:cNvPr id="13" name="Rounded Rectangle 12"/>
          <p:cNvSpPr/>
          <p:nvPr/>
        </p:nvSpPr>
        <p:spPr>
          <a:xfrm>
            <a:off x="4480560" y="443484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AUDIT REPORT</a:t>
            </a:r>
          </a:p>
          <a:p>
            <a:pPr>
              <a:spcBef>
                <a:spcPts val="200"/>
              </a:spcBef>
              <a:defRPr sz="950" b="1">
                <a:solidFill>
                  <a:srgbClr val="FFFFFF"/>
                </a:solidFill>
                <a:latin typeface="Arial"/>
              </a:defRPr>
            </a:pPr>
            <a:r>
              <a:t>PASS (JSON Export)</a:t>
            </a:r>
          </a:p>
        </p:txBody>
      </p:sp>
      <p:sp>
        <p:nvSpPr>
          <p:cNvPr id="14" name="Rounded Rectangle 13"/>
          <p:cNvSpPr/>
          <p:nvPr/>
        </p:nvSpPr>
        <p:spPr>
          <a:xfrm>
            <a:off x="6583680" y="443484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GIT REPOSITORY</a:t>
            </a:r>
          </a:p>
          <a:p>
            <a:pPr>
              <a:spcBef>
                <a:spcPts val="200"/>
              </a:spcBef>
              <a:defRPr sz="950" b="1">
                <a:solidFill>
                  <a:srgbClr val="FFFFFF"/>
                </a:solidFill>
                <a:latin typeface="Arial"/>
              </a:defRPr>
            </a:pPr>
            <a:r>
              <a:t>Commit afb0952</a:t>
            </a:r>
          </a:p>
        </p:txBody>
      </p:sp>
      <p:sp>
        <p:nvSpPr>
          <p:cNvPr id="15" name="Rounded Rectangle 14"/>
          <p:cNvSpPr/>
          <p:nvPr/>
        </p:nvSpPr>
        <p:spPr>
          <a:xfrm>
            <a:off x="4480560" y="530352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CLOUD HOSTING</a:t>
            </a:r>
          </a:p>
          <a:p>
            <a:pPr>
              <a:spcBef>
                <a:spcPts val="200"/>
              </a:spcBef>
              <a:defRPr sz="950" b="1">
                <a:solidFill>
                  <a:srgbClr val="FFFFFF"/>
                </a:solidFill>
                <a:latin typeface="Arial"/>
              </a:defRPr>
            </a:pPr>
            <a:r>
              <a:t>Vercel Edge</a:t>
            </a:r>
          </a:p>
        </p:txBody>
      </p:sp>
      <p:sp>
        <p:nvSpPr>
          <p:cNvPr id="16" name="Rounded Rectangle 15"/>
          <p:cNvSpPr/>
          <p:nvPr/>
        </p:nvSpPr>
        <p:spPr>
          <a:xfrm>
            <a:off x="6583680" y="5303520"/>
            <a:ext cx="1993392" cy="77724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0FF"/>
                </a:solidFill>
                <a:latin typeface="Consolas"/>
              </a:defRPr>
            </a:pPr>
            <a:r>
              <a:t>LIVE APPLICATION</a:t>
            </a:r>
          </a:p>
          <a:p>
            <a:pPr>
              <a:spcBef>
                <a:spcPts val="200"/>
              </a:spcBef>
              <a:defRPr sz="950" b="1">
                <a:solidFill>
                  <a:srgbClr val="FFFFFF"/>
                </a:solidFill>
                <a:latin typeface="Arial"/>
              </a:defRPr>
            </a:pPr>
            <a:r>
              <a:t>verifyx.vercel.app</a:t>
            </a:r>
          </a:p>
        </p:txBody>
      </p:sp>
      <p:sp>
        <p:nvSpPr>
          <p:cNvPr id="17" name="Rounded Rectangle 16"/>
          <p:cNvSpPr/>
          <p:nvPr/>
        </p:nvSpPr>
        <p:spPr>
          <a:xfrm>
            <a:off x="8961120" y="1828800"/>
            <a:ext cx="2468880" cy="4389120"/>
          </a:xfrm>
          <a:prstGeom prst="roundRect">
            <a:avLst/>
          </a:prstGeom>
          <a:solidFill>
            <a:srgbClr val="0B0F19"/>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verified_screen_5of5_1790084828778.png"/>
          <p:cNvPicPr>
            <a:picLocks noChangeAspect="1"/>
          </p:cNvPicPr>
          <p:nvPr/>
        </p:nvPicPr>
        <p:blipFill>
          <a:blip r:embed="rId2"/>
          <a:stretch>
            <a:fillRect/>
          </a:stretch>
        </p:blipFill>
        <p:spPr>
          <a:xfrm>
            <a:off x="9006840" y="1874519"/>
            <a:ext cx="2377440" cy="42976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F0FF"/>
                </a:solidFill>
                <a:latin typeface="Consolas"/>
              </a:defRPr>
            </a:pPr>
            <a:r>
              <a:t>STAGE 09 // ROADMAP &amp; FUTURE WORKFLOWS</a:t>
            </a:r>
          </a:p>
        </p:txBody>
      </p:sp>
      <p:sp>
        <p:nvSpPr>
          <p:cNvPr id="4" name="TextBox 3"/>
          <p:cNvSpPr txBox="1"/>
          <p:nvPr/>
        </p:nvSpPr>
        <p:spPr>
          <a:xfrm>
            <a:off x="731520" y="685800"/>
            <a:ext cx="10698480" cy="685800"/>
          </a:xfrm>
          <a:prstGeom prst="rect">
            <a:avLst/>
          </a:prstGeom>
          <a:noFill/>
        </p:spPr>
        <p:txBody>
          <a:bodyPr wrap="square" lIns="0" tIns="0" rIns="0" bIns="0">
            <a:spAutoFit/>
          </a:bodyPr>
          <a:lstStyle/>
          <a:p>
            <a:pPr>
              <a:defRPr sz="3200" b="1">
                <a:solidFill>
                  <a:srgbClr val="FFFFFF"/>
                </a:solidFill>
                <a:latin typeface="Arial"/>
              </a:defRPr>
            </a:pPr>
            <a:r>
              <a:t>From verification prototype to inspection platform.</a:t>
            </a:r>
          </a:p>
        </p:txBody>
      </p:sp>
      <p:sp>
        <p:nvSpPr>
          <p:cNvPr id="5" name="TextBox 4"/>
          <p:cNvSpPr txBox="1"/>
          <p:nvPr/>
        </p:nvSpPr>
        <p:spPr>
          <a:xfrm>
            <a:off x="731520" y="1371600"/>
            <a:ext cx="10698480" cy="365760"/>
          </a:xfrm>
          <a:prstGeom prst="rect">
            <a:avLst/>
          </a:prstGeom>
          <a:noFill/>
        </p:spPr>
        <p:txBody>
          <a:bodyPr wrap="square" lIns="0" tIns="0" rIns="0" bIns="0">
            <a:spAutoFit/>
          </a:bodyPr>
          <a:lstStyle/>
          <a:p>
            <a:pPr>
              <a:defRPr sz="1400">
                <a:solidFill>
                  <a:srgbClr val="94A3B8"/>
                </a:solidFill>
                <a:latin typeface="Arial"/>
              </a:defRPr>
            </a:pPr>
            <a:r>
              <a:t>Clear separation between current live capabilities and future development horizons</a:t>
            </a:r>
          </a:p>
        </p:txBody>
      </p:sp>
      <p:sp>
        <p:nvSpPr>
          <p:cNvPr id="6" name="Rounded Rectangle 5"/>
          <p:cNvSpPr/>
          <p:nvPr/>
        </p:nvSpPr>
        <p:spPr>
          <a:xfrm>
            <a:off x="731520" y="1828800"/>
            <a:ext cx="3383280" cy="3474720"/>
          </a:xfrm>
          <a:prstGeom prst="roundRect">
            <a:avLst/>
          </a:prstGeom>
          <a:solidFill>
            <a:srgbClr val="0B0F19"/>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latin typeface="Consolas"/>
              </a:defRPr>
            </a:pPr>
            <a:r>
              <a:t>TODAY // LIVE</a:t>
            </a:r>
            <a:br/>
            <a:r>
              <a:t>IMPLEMENTED &amp; TESTED</a:t>
            </a:r>
          </a:p>
          <a:p>
            <a:pPr>
              <a:spcBef>
                <a:spcPts val="1400"/>
              </a:spcBef>
              <a:defRPr sz="1200">
                <a:solidFill>
                  <a:srgbClr val="FFFFFF"/>
                </a:solidFill>
                <a:latin typeface="Arial"/>
              </a:defRPr>
            </a:pPr>
            <a:r>
              <a:t>• In-browser verification web application</a:t>
            </a:r>
            <a:br/>
            <a:r>
              <a:t>• YOLO11n ONNX via WebAssembly</a:t>
            </a:r>
            <a:br/>
            <a:r>
              <a:t>• Spatial Rule Engine (clearance &amp; size)</a:t>
            </a:r>
            <a:br/>
            <a:r>
              <a:t>• Tiered fallback pipeline (TF.js / Sim)</a:t>
            </a:r>
            <a:br/>
            <a:r>
              <a:t>• Closed-loop Before/After Rescan</a:t>
            </a:r>
            <a:br/>
            <a:r>
              <a:t>• Structured JSON inspection reports</a:t>
            </a:r>
            <a:br/>
            <a:r>
              <a:t>• Deployed on Vercel Edge Network</a:t>
            </a:r>
          </a:p>
        </p:txBody>
      </p:sp>
      <p:sp>
        <p:nvSpPr>
          <p:cNvPr id="7" name="Rounded Rectangle 6"/>
          <p:cNvSpPr/>
          <p:nvPr/>
        </p:nvSpPr>
        <p:spPr>
          <a:xfrm>
            <a:off x="4389120" y="1828800"/>
            <a:ext cx="3383280" cy="347472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F0FF"/>
                </a:solidFill>
                <a:latin typeface="Consolas"/>
              </a:defRPr>
            </a:pPr>
            <a:r>
              <a:t>NEXT // ROADMAP</a:t>
            </a:r>
            <a:br/>
            <a:r>
              <a:t>PLANNED (NOT YET IMPLEMENTED)</a:t>
            </a:r>
          </a:p>
          <a:p>
            <a:pPr>
              <a:spcBef>
                <a:spcPts val="1400"/>
              </a:spcBef>
              <a:defRPr sz="1200">
                <a:solidFill>
                  <a:srgbClr val="94A3B8"/>
                </a:solidFill>
                <a:latin typeface="Arial"/>
              </a:defRPr>
            </a:pPr>
            <a:r>
              <a:t>• REST &amp; Webhook APIs for facility systems</a:t>
            </a:r>
            <a:br/>
            <a:r>
              <a:t>• Additional inspection categories</a:t>
            </a:r>
            <a:br/>
            <a:r>
              <a:t>• User-configurable spatial rule sets</a:t>
            </a:r>
            <a:br/>
            <a:r>
              <a:t>• Browser extension for desktop verification</a:t>
            </a:r>
            <a:br/>
            <a:r>
              <a:t>• Native iOS / Android wrapper packaging</a:t>
            </a:r>
            <a:br/>
            <a:r>
              <a:t>• Export integrations for safety databases</a:t>
            </a:r>
          </a:p>
        </p:txBody>
      </p:sp>
      <p:sp>
        <p:nvSpPr>
          <p:cNvPr id="8" name="Rounded Rectangle 7"/>
          <p:cNvSpPr/>
          <p:nvPr/>
        </p:nvSpPr>
        <p:spPr>
          <a:xfrm>
            <a:off x="8046720" y="1828800"/>
            <a:ext cx="3383280" cy="34747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94A3B8"/>
                </a:solidFill>
                <a:latin typeface="Consolas"/>
              </a:defRPr>
            </a:pPr>
            <a:r>
              <a:t>FUTURE // VISION</a:t>
            </a:r>
            <a:br/>
            <a:r>
              <a:t>RESEARCH (LONG-TERM)</a:t>
            </a:r>
          </a:p>
          <a:p>
            <a:pPr>
              <a:spcBef>
                <a:spcPts val="1400"/>
              </a:spcBef>
              <a:defRPr sz="1200">
                <a:solidFill>
                  <a:srgbClr val="94A3B8"/>
                </a:solidFill>
                <a:latin typeface="Arial"/>
              </a:defRPr>
            </a:pPr>
            <a:r>
              <a:t>• Cryptographic signing for tamper-evident records</a:t>
            </a:r>
            <a:br/>
            <a:r>
              <a:t>• Multi-camera temporal tracking across zones</a:t>
            </a:r>
            <a:br/>
            <a:r>
              <a:t>• Automated compliance export adapters</a:t>
            </a:r>
            <a:br/>
            <a:r>
              <a:t>• Continuous on-device model adaptation</a:t>
            </a:r>
            <a:br/>
            <a:r>
              <a:t>• Universal verification protocol</a:t>
            </a:r>
          </a:p>
        </p:txBody>
      </p:sp>
      <p:sp>
        <p:nvSpPr>
          <p:cNvPr id="9" name="Rounded Rectangle 8"/>
          <p:cNvSpPr/>
          <p:nvPr/>
        </p:nvSpPr>
        <p:spPr>
          <a:xfrm>
            <a:off x="731520" y="5532120"/>
            <a:ext cx="10698480" cy="731520"/>
          </a:xfrm>
          <a:prstGeom prst="roundRect">
            <a:avLst/>
          </a:prstGeom>
          <a:solidFill>
            <a:srgbClr val="0B0F1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onsolas"/>
              </a:defRPr>
            </a:pPr>
            <a:r>
              <a:t>TARGET USE CASES: Egress corridor clearance, emergency equipment accessibility, facility maintenance records.</a:t>
            </a:r>
          </a:p>
          <a:p>
            <a:pPr>
              <a:spcBef>
                <a:spcPts val="200"/>
              </a:spcBef>
              <a:defRPr sz="1000">
                <a:solidFill>
                  <a:srgbClr val="94A3B8"/>
                </a:solidFill>
                <a:latin typeface="Arial"/>
              </a:defRPr>
            </a:pPr>
            <a:r>
              <a:t>DISCLAIMER: VERIFYX is currently a prototype verification rule engine and not a certified safety compliance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320040"/>
          </a:xfrm>
          <a:prstGeom prst="rect">
            <a:avLst/>
          </a:prstGeom>
          <a:noFill/>
        </p:spPr>
        <p:txBody>
          <a:bodyPr wrap="none">
            <a:spAutoFit/>
          </a:bodyPr>
          <a:lstStyle/>
          <a:p>
            <a:pPr>
              <a:defRPr sz="1000" b="1">
                <a:solidFill>
                  <a:srgbClr val="00F0FF"/>
                </a:solidFill>
                <a:latin typeface="Consolas"/>
              </a:defRPr>
            </a:pPr>
            <a:r>
              <a:t>STAGE 10 // CALL TO ACTION · LIVE EVALUATION</a:t>
            </a:r>
          </a:p>
        </p:txBody>
      </p:sp>
      <p:sp>
        <p:nvSpPr>
          <p:cNvPr id="4" name="TextBox 3"/>
          <p:cNvSpPr txBox="1"/>
          <p:nvPr/>
        </p:nvSpPr>
        <p:spPr>
          <a:xfrm>
            <a:off x="731520" y="1188720"/>
            <a:ext cx="6858000" cy="2011680"/>
          </a:xfrm>
          <a:prstGeom prst="rect">
            <a:avLst/>
          </a:prstGeom>
          <a:noFill/>
        </p:spPr>
        <p:txBody>
          <a:bodyPr wrap="square">
            <a:spAutoFit/>
          </a:bodyPr>
          <a:lstStyle/>
          <a:p>
            <a:pPr>
              <a:defRPr sz="3600" b="1">
                <a:solidFill>
                  <a:srgbClr val="FFFFFF"/>
                </a:solidFill>
                <a:latin typeface="Arial"/>
              </a:defRPr>
            </a:pPr>
            <a:r>
              <a:t>DON'T JUST CONSUME INFORMATION.</a:t>
            </a:r>
          </a:p>
          <a:p>
            <a:pPr>
              <a:defRPr sz="4400" b="1">
                <a:solidFill>
                  <a:srgbClr val="00F0FF"/>
                </a:solidFill>
                <a:latin typeface="Arial"/>
              </a:defRPr>
            </a:pPr>
            <a:r>
              <a:t>VERIFY IT.</a:t>
            </a:r>
          </a:p>
        </p:txBody>
      </p:sp>
      <p:sp>
        <p:nvSpPr>
          <p:cNvPr id="5" name="TextBox 4"/>
          <p:cNvSpPr txBox="1"/>
          <p:nvPr/>
        </p:nvSpPr>
        <p:spPr>
          <a:xfrm>
            <a:off x="731520" y="3474720"/>
            <a:ext cx="6858000" cy="1097280"/>
          </a:xfrm>
          <a:prstGeom prst="rect">
            <a:avLst/>
          </a:prstGeom>
          <a:noFill/>
        </p:spPr>
        <p:txBody>
          <a:bodyPr wrap="none">
            <a:spAutoFit/>
          </a:bodyPr>
          <a:lstStyle/>
          <a:p>
            <a:pPr>
              <a:defRPr sz="3200" b="1">
                <a:solidFill>
                  <a:srgbClr val="FFFFFF"/>
                </a:solidFill>
                <a:latin typeface="Arial"/>
              </a:defRPr>
            </a:pPr>
            <a:r>
              <a:t>VERIFYX</a:t>
            </a:r>
          </a:p>
          <a:p>
            <a:pPr>
              <a:defRPr sz="2000" b="1">
                <a:solidFill>
                  <a:srgbClr val="94A3B8"/>
                </a:solidFill>
                <a:latin typeface="Arial"/>
              </a:defRPr>
            </a:pPr>
            <a:r>
              <a:t>"Verify Before You Trust."</a:t>
            </a:r>
          </a:p>
        </p:txBody>
      </p:sp>
      <p:sp>
        <p:nvSpPr>
          <p:cNvPr id="6" name="TextBox 5"/>
          <p:cNvSpPr txBox="1"/>
          <p:nvPr/>
        </p:nvSpPr>
        <p:spPr>
          <a:xfrm>
            <a:off x="731520" y="4663440"/>
            <a:ext cx="6858000" cy="731520"/>
          </a:xfrm>
          <a:prstGeom prst="rect">
            <a:avLst/>
          </a:prstGeom>
          <a:noFill/>
        </p:spPr>
        <p:txBody>
          <a:bodyPr wrap="none">
            <a:spAutoFit/>
          </a:bodyPr>
          <a:lstStyle/>
          <a:p>
            <a:pPr>
              <a:defRPr sz="1100" b="1">
                <a:solidFill>
                  <a:srgbClr val="22C55E"/>
                </a:solidFill>
                <a:latin typeface="Consolas"/>
              </a:defRPr>
            </a:pPr>
            <a:r>
              <a:t>● LIVE WEB APPLICATION     ● 24/24 TESTS PASSED     ● DEVICE-LOCAL PROCESSING</a:t>
            </a:r>
          </a:p>
        </p:txBody>
      </p:sp>
      <p:sp>
        <p:nvSpPr>
          <p:cNvPr id="7" name="Rounded Rectangle 6"/>
          <p:cNvSpPr/>
          <p:nvPr/>
        </p:nvSpPr>
        <p:spPr>
          <a:xfrm>
            <a:off x="8046720" y="1188720"/>
            <a:ext cx="3383280" cy="4572000"/>
          </a:xfrm>
          <a:prstGeom prst="roundRect">
            <a:avLst/>
          </a:prstGeom>
          <a:solidFill>
            <a:srgbClr val="0B0F19"/>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latin typeface="Consolas"/>
              </a:defRPr>
            </a:pPr>
            <a:r>
              <a:t>SCAN FOR LIVE DEMO</a:t>
            </a:r>
          </a:p>
        </p:txBody>
      </p:sp>
      <p:pic>
        <p:nvPicPr>
          <p:cNvPr id="8" name="Picture 7" descr="verifyx_live_qr.png"/>
          <p:cNvPicPr>
            <a:picLocks noChangeAspect="1"/>
          </p:cNvPicPr>
          <p:nvPr/>
        </p:nvPicPr>
        <p:blipFill>
          <a:blip r:embed="rId2"/>
          <a:stretch>
            <a:fillRect/>
          </a:stretch>
        </p:blipFill>
        <p:spPr>
          <a:xfrm>
            <a:off x="8458200" y="1783080"/>
            <a:ext cx="2560320" cy="2560320"/>
          </a:xfrm>
          <a:prstGeom prst="rect">
            <a:avLst/>
          </a:prstGeom>
        </p:spPr>
      </p:pic>
      <p:sp>
        <p:nvSpPr>
          <p:cNvPr id="9" name="TextBox 8"/>
          <p:cNvSpPr txBox="1"/>
          <p:nvPr/>
        </p:nvSpPr>
        <p:spPr>
          <a:xfrm>
            <a:off x="8046720" y="4480560"/>
            <a:ext cx="3383280" cy="1097280"/>
          </a:xfrm>
          <a:prstGeom prst="rect">
            <a:avLst/>
          </a:prstGeom>
          <a:noFill/>
        </p:spPr>
        <p:txBody>
          <a:bodyPr wrap="square">
            <a:spAutoFit/>
          </a:bodyPr>
          <a:lstStyle/>
          <a:p>
            <a:pPr algn="ctr">
              <a:defRPr sz="1100" b="1">
                <a:solidFill>
                  <a:srgbClr val="FFFFFF"/>
                </a:solidFill>
                <a:latin typeface="Consolas"/>
              </a:defRPr>
            </a:pPr>
            <a:r>
              <a:t>https://verifyx.vercel.app</a:t>
            </a:r>
          </a:p>
          <a:p>
            <a:pPr algn="ctr">
              <a:spcBef>
                <a:spcPts val="400"/>
              </a:spcBef>
              <a:defRPr sz="900">
                <a:solidFill>
                  <a:srgbClr val="94A3B8"/>
                </a:solidFill>
                <a:latin typeface="Arial"/>
              </a:defRPr>
            </a:pPr>
            <a:r>
              <a:t>Runs directly on your smartphone browser.</a:t>
            </a:r>
            <a:br/>
            <a:r>
              <a:t>No app download required.</a:t>
            </a:r>
          </a:p>
        </p:txBody>
      </p:sp>
      <p:sp>
        <p:nvSpPr>
          <p:cNvPr id="10" name="TextBox 9"/>
          <p:cNvSpPr txBox="1"/>
          <p:nvPr/>
        </p:nvSpPr>
        <p:spPr>
          <a:xfrm>
            <a:off x="731520" y="5943600"/>
            <a:ext cx="10698480" cy="365760"/>
          </a:xfrm>
          <a:prstGeom prst="rect">
            <a:avLst/>
          </a:prstGeom>
          <a:noFill/>
        </p:spPr>
        <p:txBody>
          <a:bodyPr wrap="none">
            <a:spAutoFit/>
          </a:bodyPr>
          <a:lstStyle/>
          <a:p>
            <a:pPr>
              <a:defRPr sz="1100">
                <a:solidFill>
                  <a:srgbClr val="94A3B8"/>
                </a:solidFill>
                <a:latin typeface="Consolas"/>
              </a:defRPr>
            </a:pPr>
            <a:r>
              <a:t>BUILT • TESTED • DEPLOYED    |    GITHUB COMMIT: afb0952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